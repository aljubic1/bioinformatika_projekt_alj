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79" r:id="rId4"/>
    <p:sldId id="267" r:id="rId5"/>
    <p:sldId id="269" r:id="rId6"/>
    <p:sldId id="334" r:id="rId7"/>
    <p:sldId id="281" r:id="rId8"/>
    <p:sldId id="313" r:id="rId9"/>
    <p:sldId id="315" r:id="rId10"/>
    <p:sldId id="296" r:id="rId11"/>
    <p:sldId id="298" r:id="rId12"/>
    <p:sldId id="317" r:id="rId13"/>
    <p:sldId id="319" r:id="rId14"/>
    <p:sldId id="320" r:id="rId15"/>
    <p:sldId id="302" r:id="rId16"/>
    <p:sldId id="337" r:id="rId17"/>
    <p:sldId id="307" r:id="rId18"/>
    <p:sldId id="331" r:id="rId19"/>
    <p:sldId id="332" r:id="rId20"/>
    <p:sldId id="338" r:id="rId21"/>
    <p:sldId id="312" r:id="rId22"/>
  </p:sldIdLst>
  <p:sldSz cx="12192000" cy="6858000"/>
  <p:notesSz cx="6858000" cy="9144000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1709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4" d="100"/>
          <a:sy n="64" d="100"/>
        </p:scale>
        <p:origin x="883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8A69D0D-A614-4087-8C5E-C24EAFC9EE3F}" type="doc">
      <dgm:prSet loTypeId="urn:microsoft.com/office/officeart/2005/8/layout/hProcess9" loCatId="process" qsTypeId="urn:microsoft.com/office/officeart/2005/8/quickstyle/3d4" qsCatId="3D" csTypeId="urn:microsoft.com/office/officeart/2005/8/colors/accent0_3" csCatId="mainScheme" phldr="1"/>
      <dgm:spPr/>
    </dgm:pt>
    <dgm:pt modelId="{3116DBB6-9BC8-417A-A920-A1E8D9E84082}">
      <dgm:prSet phldrT="[Text]"/>
      <dgm:spPr/>
      <dgm:t>
        <a:bodyPr/>
        <a:lstStyle/>
        <a:p>
          <a:pPr>
            <a:buNone/>
          </a:pPr>
          <a:r>
            <a:rPr lang="bs-Latn-BA" b="1" dirty="0"/>
            <a:t>01. Priprema podataka</a:t>
          </a:r>
        </a:p>
      </dgm:t>
    </dgm:pt>
    <dgm:pt modelId="{CE9DA99F-6947-4A73-B50B-ED4DEF1624CD}" type="parTrans" cxnId="{F3C98545-6B22-4EB2-ACD6-BF546A48C26F}">
      <dgm:prSet/>
      <dgm:spPr/>
      <dgm:t>
        <a:bodyPr/>
        <a:lstStyle/>
        <a:p>
          <a:endParaRPr lang="bs-Latn-BA"/>
        </a:p>
      </dgm:t>
    </dgm:pt>
    <dgm:pt modelId="{BBE9E2CA-1C57-40F6-B0DF-9309380101E1}" type="sibTrans" cxnId="{F3C98545-6B22-4EB2-ACD6-BF546A48C26F}">
      <dgm:prSet/>
      <dgm:spPr/>
      <dgm:t>
        <a:bodyPr/>
        <a:lstStyle/>
        <a:p>
          <a:endParaRPr lang="bs-Latn-BA"/>
        </a:p>
      </dgm:t>
    </dgm:pt>
    <dgm:pt modelId="{3AAC3E15-7243-4234-9E8A-682E91758FE7}">
      <dgm:prSet/>
      <dgm:spPr/>
      <dgm:t>
        <a:bodyPr/>
        <a:lstStyle/>
        <a:p>
          <a:r>
            <a:rPr lang="bs-Latn-BA" b="1" dirty="0"/>
            <a:t>02. Izdvajanje bioinformatičkih značajki</a:t>
          </a:r>
        </a:p>
      </dgm:t>
    </dgm:pt>
    <dgm:pt modelId="{F9AA0355-8D9C-4F7E-B1AA-E9F4C21740E8}" type="parTrans" cxnId="{E51A52D9-D2C8-45F9-89B3-E30216111671}">
      <dgm:prSet/>
      <dgm:spPr/>
      <dgm:t>
        <a:bodyPr/>
        <a:lstStyle/>
        <a:p>
          <a:endParaRPr lang="bs-Latn-BA"/>
        </a:p>
      </dgm:t>
    </dgm:pt>
    <dgm:pt modelId="{9272429D-6861-4E47-A13C-96D2384E41DD}" type="sibTrans" cxnId="{E51A52D9-D2C8-45F9-89B3-E30216111671}">
      <dgm:prSet/>
      <dgm:spPr/>
      <dgm:t>
        <a:bodyPr/>
        <a:lstStyle/>
        <a:p>
          <a:endParaRPr lang="bs-Latn-BA"/>
        </a:p>
      </dgm:t>
    </dgm:pt>
    <dgm:pt modelId="{854EA79D-A3DB-4A39-A241-B54A36D4A311}">
      <dgm:prSet/>
      <dgm:spPr/>
      <dgm:t>
        <a:bodyPr/>
        <a:lstStyle/>
        <a:p>
          <a:r>
            <a:rPr lang="bs-Latn-BA" b="1"/>
            <a:t>03. Modeliranje</a:t>
          </a:r>
          <a:endParaRPr lang="bs-Latn-BA" b="1" dirty="0"/>
        </a:p>
      </dgm:t>
    </dgm:pt>
    <dgm:pt modelId="{4F03D7F4-1271-406C-9042-EB713115174E}" type="parTrans" cxnId="{0FCAA4A9-9A2C-4A6A-95FE-D65D87DA38E3}">
      <dgm:prSet/>
      <dgm:spPr/>
      <dgm:t>
        <a:bodyPr/>
        <a:lstStyle/>
        <a:p>
          <a:endParaRPr lang="bs-Latn-BA"/>
        </a:p>
      </dgm:t>
    </dgm:pt>
    <dgm:pt modelId="{1E84D6AB-EFB8-4395-8C8B-91AD89B7B4A6}" type="sibTrans" cxnId="{0FCAA4A9-9A2C-4A6A-95FE-D65D87DA38E3}">
      <dgm:prSet/>
      <dgm:spPr/>
      <dgm:t>
        <a:bodyPr/>
        <a:lstStyle/>
        <a:p>
          <a:endParaRPr lang="bs-Latn-BA"/>
        </a:p>
      </dgm:t>
    </dgm:pt>
    <dgm:pt modelId="{223A630B-65DF-4414-B3C4-356AAE6B4166}">
      <dgm:prSet/>
      <dgm:spPr/>
      <dgm:t>
        <a:bodyPr/>
        <a:lstStyle/>
        <a:p>
          <a:r>
            <a:rPr lang="bs-Latn-BA" b="1" dirty="0"/>
            <a:t>04. Evaluacija modela</a:t>
          </a:r>
        </a:p>
      </dgm:t>
    </dgm:pt>
    <dgm:pt modelId="{D4D2E94E-BCDF-40DF-B281-84293BF7FA4D}" type="parTrans" cxnId="{7F46AD82-CB44-4B24-8456-AF9A77F2F03F}">
      <dgm:prSet/>
      <dgm:spPr/>
      <dgm:t>
        <a:bodyPr/>
        <a:lstStyle/>
        <a:p>
          <a:endParaRPr lang="bs-Latn-BA"/>
        </a:p>
      </dgm:t>
    </dgm:pt>
    <dgm:pt modelId="{900FED10-482F-4D2D-8A88-B0581047689A}" type="sibTrans" cxnId="{7F46AD82-CB44-4B24-8456-AF9A77F2F03F}">
      <dgm:prSet/>
      <dgm:spPr/>
      <dgm:t>
        <a:bodyPr/>
        <a:lstStyle/>
        <a:p>
          <a:endParaRPr lang="bs-Latn-BA"/>
        </a:p>
      </dgm:t>
    </dgm:pt>
    <dgm:pt modelId="{3D198EB8-5B83-4CDA-8395-CBE8FC058C2F}" type="pres">
      <dgm:prSet presAssocID="{28A69D0D-A614-4087-8C5E-C24EAFC9EE3F}" presName="CompostProcess" presStyleCnt="0">
        <dgm:presLayoutVars>
          <dgm:dir/>
          <dgm:resizeHandles val="exact"/>
        </dgm:presLayoutVars>
      </dgm:prSet>
      <dgm:spPr/>
    </dgm:pt>
    <dgm:pt modelId="{E5AA9E60-A110-48E7-BC31-DE103B33CEBD}" type="pres">
      <dgm:prSet presAssocID="{28A69D0D-A614-4087-8C5E-C24EAFC9EE3F}" presName="arrow" presStyleLbl="bgShp" presStyleIdx="0" presStyleCnt="1" custScaleX="117647"/>
      <dgm:spPr/>
    </dgm:pt>
    <dgm:pt modelId="{39B1047D-23AC-4ACC-B886-3D32080F2D53}" type="pres">
      <dgm:prSet presAssocID="{28A69D0D-A614-4087-8C5E-C24EAFC9EE3F}" presName="linearProcess" presStyleCnt="0"/>
      <dgm:spPr/>
    </dgm:pt>
    <dgm:pt modelId="{BF77E5C5-F8C0-430E-9F57-B369E7CC1B6C}" type="pres">
      <dgm:prSet presAssocID="{3116DBB6-9BC8-417A-A920-A1E8D9E84082}" presName="textNode" presStyleLbl="node1" presStyleIdx="0" presStyleCnt="4" custLinFactNeighborY="0">
        <dgm:presLayoutVars>
          <dgm:bulletEnabled val="1"/>
        </dgm:presLayoutVars>
      </dgm:prSet>
      <dgm:spPr/>
    </dgm:pt>
    <dgm:pt modelId="{A3DE2B5C-EF14-4B59-AD73-71436F30ABA6}" type="pres">
      <dgm:prSet presAssocID="{BBE9E2CA-1C57-40F6-B0DF-9309380101E1}" presName="sibTrans" presStyleCnt="0"/>
      <dgm:spPr/>
    </dgm:pt>
    <dgm:pt modelId="{8883E3E8-6F2D-4ED1-8351-019572A49EAF}" type="pres">
      <dgm:prSet presAssocID="{3AAC3E15-7243-4234-9E8A-682E91758FE7}" presName="textNode" presStyleLbl="node1" presStyleIdx="1" presStyleCnt="4">
        <dgm:presLayoutVars>
          <dgm:bulletEnabled val="1"/>
        </dgm:presLayoutVars>
      </dgm:prSet>
      <dgm:spPr/>
    </dgm:pt>
    <dgm:pt modelId="{56FD8BF9-AEAC-4D60-A110-AC59AED3FD96}" type="pres">
      <dgm:prSet presAssocID="{9272429D-6861-4E47-A13C-96D2384E41DD}" presName="sibTrans" presStyleCnt="0"/>
      <dgm:spPr/>
    </dgm:pt>
    <dgm:pt modelId="{6EF6BBBB-7883-42C4-81A2-E88016B365F3}" type="pres">
      <dgm:prSet presAssocID="{854EA79D-A3DB-4A39-A241-B54A36D4A311}" presName="textNode" presStyleLbl="node1" presStyleIdx="2" presStyleCnt="4">
        <dgm:presLayoutVars>
          <dgm:bulletEnabled val="1"/>
        </dgm:presLayoutVars>
      </dgm:prSet>
      <dgm:spPr/>
    </dgm:pt>
    <dgm:pt modelId="{7E911743-3917-417C-A4CE-D4076BECC5B0}" type="pres">
      <dgm:prSet presAssocID="{1E84D6AB-EFB8-4395-8C8B-91AD89B7B4A6}" presName="sibTrans" presStyleCnt="0"/>
      <dgm:spPr/>
    </dgm:pt>
    <dgm:pt modelId="{C90666D2-9E7F-4741-8FD4-B50555E5661F}" type="pres">
      <dgm:prSet presAssocID="{223A630B-65DF-4414-B3C4-356AAE6B4166}" presName="textNode" presStyleLbl="node1" presStyleIdx="3" presStyleCnt="4">
        <dgm:presLayoutVars>
          <dgm:bulletEnabled val="1"/>
        </dgm:presLayoutVars>
      </dgm:prSet>
      <dgm:spPr/>
    </dgm:pt>
  </dgm:ptLst>
  <dgm:cxnLst>
    <dgm:cxn modelId="{E1817504-4C98-431E-BC12-B5F069E2F1BC}" type="presOf" srcId="{223A630B-65DF-4414-B3C4-356AAE6B4166}" destId="{C90666D2-9E7F-4741-8FD4-B50555E5661F}" srcOrd="0" destOrd="0" presId="urn:microsoft.com/office/officeart/2005/8/layout/hProcess9"/>
    <dgm:cxn modelId="{4B22AA09-B426-4F50-BC0A-DC86E154C6DC}" type="presOf" srcId="{28A69D0D-A614-4087-8C5E-C24EAFC9EE3F}" destId="{3D198EB8-5B83-4CDA-8395-CBE8FC058C2F}" srcOrd="0" destOrd="0" presId="urn:microsoft.com/office/officeart/2005/8/layout/hProcess9"/>
    <dgm:cxn modelId="{F3C98545-6B22-4EB2-ACD6-BF546A48C26F}" srcId="{28A69D0D-A614-4087-8C5E-C24EAFC9EE3F}" destId="{3116DBB6-9BC8-417A-A920-A1E8D9E84082}" srcOrd="0" destOrd="0" parTransId="{CE9DA99F-6947-4A73-B50B-ED4DEF1624CD}" sibTransId="{BBE9E2CA-1C57-40F6-B0DF-9309380101E1}"/>
    <dgm:cxn modelId="{7F46AD82-CB44-4B24-8456-AF9A77F2F03F}" srcId="{28A69D0D-A614-4087-8C5E-C24EAFC9EE3F}" destId="{223A630B-65DF-4414-B3C4-356AAE6B4166}" srcOrd="3" destOrd="0" parTransId="{D4D2E94E-BCDF-40DF-B281-84293BF7FA4D}" sibTransId="{900FED10-482F-4D2D-8A88-B0581047689A}"/>
    <dgm:cxn modelId="{0F9C2383-99E2-4E4A-8DC4-2EF4C4041AF2}" type="presOf" srcId="{3116DBB6-9BC8-417A-A920-A1E8D9E84082}" destId="{BF77E5C5-F8C0-430E-9F57-B369E7CC1B6C}" srcOrd="0" destOrd="0" presId="urn:microsoft.com/office/officeart/2005/8/layout/hProcess9"/>
    <dgm:cxn modelId="{0FCAA4A9-9A2C-4A6A-95FE-D65D87DA38E3}" srcId="{28A69D0D-A614-4087-8C5E-C24EAFC9EE3F}" destId="{854EA79D-A3DB-4A39-A241-B54A36D4A311}" srcOrd="2" destOrd="0" parTransId="{4F03D7F4-1271-406C-9042-EB713115174E}" sibTransId="{1E84D6AB-EFB8-4395-8C8B-91AD89B7B4A6}"/>
    <dgm:cxn modelId="{AD30D0BA-CCC3-403A-959F-33B4DF9676CC}" type="presOf" srcId="{854EA79D-A3DB-4A39-A241-B54A36D4A311}" destId="{6EF6BBBB-7883-42C4-81A2-E88016B365F3}" srcOrd="0" destOrd="0" presId="urn:microsoft.com/office/officeart/2005/8/layout/hProcess9"/>
    <dgm:cxn modelId="{E51A52D9-D2C8-45F9-89B3-E30216111671}" srcId="{28A69D0D-A614-4087-8C5E-C24EAFC9EE3F}" destId="{3AAC3E15-7243-4234-9E8A-682E91758FE7}" srcOrd="1" destOrd="0" parTransId="{F9AA0355-8D9C-4F7E-B1AA-E9F4C21740E8}" sibTransId="{9272429D-6861-4E47-A13C-96D2384E41DD}"/>
    <dgm:cxn modelId="{F02A40F4-FFC2-4540-AE52-BBFAFBCD0D98}" type="presOf" srcId="{3AAC3E15-7243-4234-9E8A-682E91758FE7}" destId="{8883E3E8-6F2D-4ED1-8351-019572A49EAF}" srcOrd="0" destOrd="0" presId="urn:microsoft.com/office/officeart/2005/8/layout/hProcess9"/>
    <dgm:cxn modelId="{F58DDBB4-3B45-4B40-A1D4-9C3DDF4999E0}" type="presParOf" srcId="{3D198EB8-5B83-4CDA-8395-CBE8FC058C2F}" destId="{E5AA9E60-A110-48E7-BC31-DE103B33CEBD}" srcOrd="0" destOrd="0" presId="urn:microsoft.com/office/officeart/2005/8/layout/hProcess9"/>
    <dgm:cxn modelId="{AF6A39E7-C767-474D-BD50-AA95726B2E50}" type="presParOf" srcId="{3D198EB8-5B83-4CDA-8395-CBE8FC058C2F}" destId="{39B1047D-23AC-4ACC-B886-3D32080F2D53}" srcOrd="1" destOrd="0" presId="urn:microsoft.com/office/officeart/2005/8/layout/hProcess9"/>
    <dgm:cxn modelId="{311E7E9E-C5F8-4752-B87B-AD019631DC18}" type="presParOf" srcId="{39B1047D-23AC-4ACC-B886-3D32080F2D53}" destId="{BF77E5C5-F8C0-430E-9F57-B369E7CC1B6C}" srcOrd="0" destOrd="0" presId="urn:microsoft.com/office/officeart/2005/8/layout/hProcess9"/>
    <dgm:cxn modelId="{9DE40ACE-3EEB-426C-93DE-CC01A1A026EE}" type="presParOf" srcId="{39B1047D-23AC-4ACC-B886-3D32080F2D53}" destId="{A3DE2B5C-EF14-4B59-AD73-71436F30ABA6}" srcOrd="1" destOrd="0" presId="urn:microsoft.com/office/officeart/2005/8/layout/hProcess9"/>
    <dgm:cxn modelId="{B140408B-7BFA-4E45-8FE7-BF3F681214A7}" type="presParOf" srcId="{39B1047D-23AC-4ACC-B886-3D32080F2D53}" destId="{8883E3E8-6F2D-4ED1-8351-019572A49EAF}" srcOrd="2" destOrd="0" presId="urn:microsoft.com/office/officeart/2005/8/layout/hProcess9"/>
    <dgm:cxn modelId="{EABBDB02-6F52-4F28-AE4D-0A5286345077}" type="presParOf" srcId="{39B1047D-23AC-4ACC-B886-3D32080F2D53}" destId="{56FD8BF9-AEAC-4D60-A110-AC59AED3FD96}" srcOrd="3" destOrd="0" presId="urn:microsoft.com/office/officeart/2005/8/layout/hProcess9"/>
    <dgm:cxn modelId="{41F6301B-7B3B-498D-A398-CE2D7BAA985A}" type="presParOf" srcId="{39B1047D-23AC-4ACC-B886-3D32080F2D53}" destId="{6EF6BBBB-7883-42C4-81A2-E88016B365F3}" srcOrd="4" destOrd="0" presId="urn:microsoft.com/office/officeart/2005/8/layout/hProcess9"/>
    <dgm:cxn modelId="{8BF29704-0BD8-4FB3-9C55-81C0A6D6994E}" type="presParOf" srcId="{39B1047D-23AC-4ACC-B886-3D32080F2D53}" destId="{7E911743-3917-417C-A4CE-D4076BECC5B0}" srcOrd="5" destOrd="0" presId="urn:microsoft.com/office/officeart/2005/8/layout/hProcess9"/>
    <dgm:cxn modelId="{423EE59C-D7B1-4902-A4FF-8CDD8D50B223}" type="presParOf" srcId="{39B1047D-23AC-4ACC-B886-3D32080F2D53}" destId="{C90666D2-9E7F-4741-8FD4-B50555E5661F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AA9E60-A110-48E7-BC31-DE103B33CEBD}">
      <dsp:nvSpPr>
        <dsp:cNvPr id="0" name=""/>
        <dsp:cNvSpPr/>
      </dsp:nvSpPr>
      <dsp:spPr>
        <a:xfrm>
          <a:off x="2" y="0"/>
          <a:ext cx="8127995" cy="5418667"/>
        </a:xfrm>
        <a:prstGeom prst="rightArrow">
          <a:avLst/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127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77E5C5-F8C0-430E-9F57-B369E7CC1B6C}">
      <dsp:nvSpPr>
        <dsp:cNvPr id="0" name=""/>
        <dsp:cNvSpPr/>
      </dsp:nvSpPr>
      <dsp:spPr>
        <a:xfrm>
          <a:off x="4067" y="1625600"/>
          <a:ext cx="1956593" cy="2167466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s-Latn-BA" sz="1800" b="1" kern="1200" dirty="0"/>
            <a:t>01. Priprema podataka</a:t>
          </a:r>
        </a:p>
      </dsp:txBody>
      <dsp:txXfrm>
        <a:off x="99580" y="1721113"/>
        <a:ext cx="1765567" cy="1976440"/>
      </dsp:txXfrm>
    </dsp:sp>
    <dsp:sp modelId="{8883E3E8-6F2D-4ED1-8351-019572A49EAF}">
      <dsp:nvSpPr>
        <dsp:cNvPr id="0" name=""/>
        <dsp:cNvSpPr/>
      </dsp:nvSpPr>
      <dsp:spPr>
        <a:xfrm>
          <a:off x="2058491" y="1625600"/>
          <a:ext cx="1956593" cy="2167466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s-Latn-BA" sz="1800" b="1" kern="1200" dirty="0"/>
            <a:t>02. Izdvajanje bioinformatičkih značajki</a:t>
          </a:r>
        </a:p>
      </dsp:txBody>
      <dsp:txXfrm>
        <a:off x="2154004" y="1721113"/>
        <a:ext cx="1765567" cy="1976440"/>
      </dsp:txXfrm>
    </dsp:sp>
    <dsp:sp modelId="{6EF6BBBB-7883-42C4-81A2-E88016B365F3}">
      <dsp:nvSpPr>
        <dsp:cNvPr id="0" name=""/>
        <dsp:cNvSpPr/>
      </dsp:nvSpPr>
      <dsp:spPr>
        <a:xfrm>
          <a:off x="4112914" y="1625600"/>
          <a:ext cx="1956593" cy="2167466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s-Latn-BA" sz="1800" b="1" kern="1200"/>
            <a:t>03. Modeliranje</a:t>
          </a:r>
          <a:endParaRPr lang="bs-Latn-BA" sz="1800" b="1" kern="1200" dirty="0"/>
        </a:p>
      </dsp:txBody>
      <dsp:txXfrm>
        <a:off x="4208427" y="1721113"/>
        <a:ext cx="1765567" cy="1976440"/>
      </dsp:txXfrm>
    </dsp:sp>
    <dsp:sp modelId="{C90666D2-9E7F-4741-8FD4-B50555E5661F}">
      <dsp:nvSpPr>
        <dsp:cNvPr id="0" name=""/>
        <dsp:cNvSpPr/>
      </dsp:nvSpPr>
      <dsp:spPr>
        <a:xfrm>
          <a:off x="6167338" y="1625600"/>
          <a:ext cx="1956593" cy="2167466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s-Latn-BA" sz="1800" b="1" kern="1200" dirty="0"/>
            <a:t>04. Evaluacija modela</a:t>
          </a:r>
        </a:p>
      </dsp:txBody>
      <dsp:txXfrm>
        <a:off x="6262851" y="1721113"/>
        <a:ext cx="1765567" cy="19764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s-Latn-B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D05F32-D78A-4E1F-B2F3-65342D9B1B9D}" type="datetimeFigureOut">
              <a:rPr lang="bs-Latn-BA" smtClean="0"/>
              <a:t>10. 7. 2026.</a:t>
            </a:fld>
            <a:endParaRPr lang="bs-Latn-B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s-Latn-B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s-Latn-B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s-Latn-B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C06B9C-569B-4D47-9A3F-D8CFD8AF2F39}" type="slidenum">
              <a:rPr lang="bs-Latn-BA" smtClean="0"/>
              <a:t>‹#›</a:t>
            </a:fld>
            <a:endParaRPr lang="bs-Latn-BA"/>
          </a:p>
        </p:txBody>
      </p:sp>
    </p:spTree>
    <p:extLst>
      <p:ext uri="{BB962C8B-B14F-4D97-AF65-F5344CB8AC3E}">
        <p14:creationId xmlns:p14="http://schemas.microsoft.com/office/powerpoint/2010/main" val="2216912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s-Latn-B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C06B9C-569B-4D47-9A3F-D8CFD8AF2F39}" type="slidenum">
              <a:rPr lang="bs-Latn-BA" smtClean="0"/>
              <a:t>1</a:t>
            </a:fld>
            <a:endParaRPr lang="bs-Latn-BA"/>
          </a:p>
        </p:txBody>
      </p:sp>
    </p:spTree>
    <p:extLst>
      <p:ext uri="{BB962C8B-B14F-4D97-AF65-F5344CB8AC3E}">
        <p14:creationId xmlns:p14="http://schemas.microsoft.com/office/powerpoint/2010/main" val="39678890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s-Latn-B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C06B9C-569B-4D47-9A3F-D8CFD8AF2F39}" type="slidenum">
              <a:rPr lang="bs-Latn-BA" smtClean="0"/>
              <a:t>2</a:t>
            </a:fld>
            <a:endParaRPr lang="bs-Latn-BA"/>
          </a:p>
        </p:txBody>
      </p:sp>
    </p:spTree>
    <p:extLst>
      <p:ext uri="{BB962C8B-B14F-4D97-AF65-F5344CB8AC3E}">
        <p14:creationId xmlns:p14="http://schemas.microsoft.com/office/powerpoint/2010/main" val="8043159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s-Latn-BA" dirty="0"/>
          </a:p>
          <a:p>
            <a:endParaRPr lang="bs-Latn-B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C06B9C-569B-4D47-9A3F-D8CFD8AF2F39}" type="slidenum">
              <a:rPr lang="bs-Latn-BA" smtClean="0"/>
              <a:t>3</a:t>
            </a:fld>
            <a:endParaRPr lang="bs-Latn-BA"/>
          </a:p>
        </p:txBody>
      </p:sp>
    </p:spTree>
    <p:extLst>
      <p:ext uri="{BB962C8B-B14F-4D97-AF65-F5344CB8AC3E}">
        <p14:creationId xmlns:p14="http://schemas.microsoft.com/office/powerpoint/2010/main" val="29392194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s-Latn-B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C06B9C-569B-4D47-9A3F-D8CFD8AF2F39}" type="slidenum">
              <a:rPr lang="bs-Latn-BA" smtClean="0"/>
              <a:t>4</a:t>
            </a:fld>
            <a:endParaRPr lang="bs-Latn-BA"/>
          </a:p>
        </p:txBody>
      </p:sp>
    </p:spTree>
    <p:extLst>
      <p:ext uri="{BB962C8B-B14F-4D97-AF65-F5344CB8AC3E}">
        <p14:creationId xmlns:p14="http://schemas.microsoft.com/office/powerpoint/2010/main" val="39724371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s-Latn-B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C06B9C-569B-4D47-9A3F-D8CFD8AF2F39}" type="slidenum">
              <a:rPr lang="bs-Latn-BA" smtClean="0"/>
              <a:t>5</a:t>
            </a:fld>
            <a:endParaRPr lang="bs-Latn-BA"/>
          </a:p>
        </p:txBody>
      </p:sp>
    </p:spTree>
    <p:extLst>
      <p:ext uri="{BB962C8B-B14F-4D97-AF65-F5344CB8AC3E}">
        <p14:creationId xmlns:p14="http://schemas.microsoft.com/office/powerpoint/2010/main" val="36163961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s-Latn-B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C06B9C-569B-4D47-9A3F-D8CFD8AF2F39}" type="slidenum">
              <a:rPr lang="bs-Latn-BA" smtClean="0"/>
              <a:t>6</a:t>
            </a:fld>
            <a:endParaRPr lang="bs-Latn-BA"/>
          </a:p>
        </p:txBody>
      </p:sp>
    </p:spTree>
    <p:extLst>
      <p:ext uri="{BB962C8B-B14F-4D97-AF65-F5344CB8AC3E}">
        <p14:creationId xmlns:p14="http://schemas.microsoft.com/office/powerpoint/2010/main" val="29421836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s-Latn-B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C06B9C-569B-4D47-9A3F-D8CFD8AF2F39}" type="slidenum">
              <a:rPr lang="bs-Latn-BA" smtClean="0"/>
              <a:t>7</a:t>
            </a:fld>
            <a:endParaRPr lang="bs-Latn-BA"/>
          </a:p>
        </p:txBody>
      </p:sp>
    </p:spTree>
    <p:extLst>
      <p:ext uri="{BB962C8B-B14F-4D97-AF65-F5344CB8AC3E}">
        <p14:creationId xmlns:p14="http://schemas.microsoft.com/office/powerpoint/2010/main" val="22828516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s-Latn-B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C06B9C-569B-4D47-9A3F-D8CFD8AF2F39}" type="slidenum">
              <a:rPr lang="bs-Latn-BA" smtClean="0"/>
              <a:t>8</a:t>
            </a:fld>
            <a:endParaRPr lang="bs-Latn-BA"/>
          </a:p>
        </p:txBody>
      </p:sp>
    </p:spTree>
    <p:extLst>
      <p:ext uri="{BB962C8B-B14F-4D97-AF65-F5344CB8AC3E}">
        <p14:creationId xmlns:p14="http://schemas.microsoft.com/office/powerpoint/2010/main" val="9226339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s-Latn-B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C06B9C-569B-4D47-9A3F-D8CFD8AF2F39}" type="slidenum">
              <a:rPr lang="bs-Latn-BA" smtClean="0"/>
              <a:t>9</a:t>
            </a:fld>
            <a:endParaRPr lang="bs-Latn-BA"/>
          </a:p>
        </p:txBody>
      </p:sp>
    </p:spTree>
    <p:extLst>
      <p:ext uri="{BB962C8B-B14F-4D97-AF65-F5344CB8AC3E}">
        <p14:creationId xmlns:p14="http://schemas.microsoft.com/office/powerpoint/2010/main" val="7930795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s-Latn-B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C06B9C-569B-4D47-9A3F-D8CFD8AF2F39}" type="slidenum">
              <a:rPr lang="bs-Latn-BA" smtClean="0"/>
              <a:t>10</a:t>
            </a:fld>
            <a:endParaRPr lang="bs-Latn-BA"/>
          </a:p>
        </p:txBody>
      </p:sp>
    </p:spTree>
    <p:extLst>
      <p:ext uri="{BB962C8B-B14F-4D97-AF65-F5344CB8AC3E}">
        <p14:creationId xmlns:p14="http://schemas.microsoft.com/office/powerpoint/2010/main" val="13377409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s-Latn-B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C06B9C-569B-4D47-9A3F-D8CFD8AF2F39}" type="slidenum">
              <a:rPr lang="bs-Latn-BA" smtClean="0"/>
              <a:t>11</a:t>
            </a:fld>
            <a:endParaRPr lang="bs-Latn-BA"/>
          </a:p>
        </p:txBody>
      </p:sp>
    </p:spTree>
    <p:extLst>
      <p:ext uri="{BB962C8B-B14F-4D97-AF65-F5344CB8AC3E}">
        <p14:creationId xmlns:p14="http://schemas.microsoft.com/office/powerpoint/2010/main" val="3687789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s-Latn-B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C06B9C-569B-4D47-9A3F-D8CFD8AF2F39}" type="slidenum">
              <a:rPr lang="bs-Latn-BA" smtClean="0"/>
              <a:t>12</a:t>
            </a:fld>
            <a:endParaRPr lang="bs-Latn-BA"/>
          </a:p>
        </p:txBody>
      </p:sp>
    </p:spTree>
    <p:extLst>
      <p:ext uri="{BB962C8B-B14F-4D97-AF65-F5344CB8AC3E}">
        <p14:creationId xmlns:p14="http://schemas.microsoft.com/office/powerpoint/2010/main" val="13585658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s-Latn-B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C06B9C-569B-4D47-9A3F-D8CFD8AF2F39}" type="slidenum">
              <a:rPr lang="bs-Latn-BA" smtClean="0"/>
              <a:t>13</a:t>
            </a:fld>
            <a:endParaRPr lang="bs-Latn-BA"/>
          </a:p>
        </p:txBody>
      </p:sp>
    </p:spTree>
    <p:extLst>
      <p:ext uri="{BB962C8B-B14F-4D97-AF65-F5344CB8AC3E}">
        <p14:creationId xmlns:p14="http://schemas.microsoft.com/office/powerpoint/2010/main" val="3391682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s-Latn-B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C06B9C-569B-4D47-9A3F-D8CFD8AF2F39}" type="slidenum">
              <a:rPr lang="bs-Latn-BA" smtClean="0"/>
              <a:t>14</a:t>
            </a:fld>
            <a:endParaRPr lang="bs-Latn-BA"/>
          </a:p>
        </p:txBody>
      </p:sp>
    </p:spTree>
    <p:extLst>
      <p:ext uri="{BB962C8B-B14F-4D97-AF65-F5344CB8AC3E}">
        <p14:creationId xmlns:p14="http://schemas.microsoft.com/office/powerpoint/2010/main" val="2619489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s-Latn-B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C06B9C-569B-4D47-9A3F-D8CFD8AF2F39}" type="slidenum">
              <a:rPr lang="bs-Latn-BA" smtClean="0"/>
              <a:t>15</a:t>
            </a:fld>
            <a:endParaRPr lang="bs-Latn-BA"/>
          </a:p>
        </p:txBody>
      </p:sp>
    </p:spTree>
    <p:extLst>
      <p:ext uri="{BB962C8B-B14F-4D97-AF65-F5344CB8AC3E}">
        <p14:creationId xmlns:p14="http://schemas.microsoft.com/office/powerpoint/2010/main" val="19382969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s-Latn-B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C06B9C-569B-4D47-9A3F-D8CFD8AF2F39}" type="slidenum">
              <a:rPr lang="bs-Latn-BA" smtClean="0"/>
              <a:t>16</a:t>
            </a:fld>
            <a:endParaRPr lang="bs-Latn-BA"/>
          </a:p>
        </p:txBody>
      </p:sp>
    </p:spTree>
    <p:extLst>
      <p:ext uri="{BB962C8B-B14F-4D97-AF65-F5344CB8AC3E}">
        <p14:creationId xmlns:p14="http://schemas.microsoft.com/office/powerpoint/2010/main" val="25928931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s-Latn-B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C06B9C-569B-4D47-9A3F-D8CFD8AF2F39}" type="slidenum">
              <a:rPr lang="bs-Latn-BA" smtClean="0"/>
              <a:t>17</a:t>
            </a:fld>
            <a:endParaRPr lang="bs-Latn-BA"/>
          </a:p>
        </p:txBody>
      </p:sp>
    </p:spTree>
    <p:extLst>
      <p:ext uri="{BB962C8B-B14F-4D97-AF65-F5344CB8AC3E}">
        <p14:creationId xmlns:p14="http://schemas.microsoft.com/office/powerpoint/2010/main" val="42460389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s-Latn-B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C06B9C-569B-4D47-9A3F-D8CFD8AF2F39}" type="slidenum">
              <a:rPr lang="bs-Latn-BA" smtClean="0"/>
              <a:t>18</a:t>
            </a:fld>
            <a:endParaRPr lang="bs-Latn-BA"/>
          </a:p>
        </p:txBody>
      </p:sp>
    </p:spTree>
    <p:extLst>
      <p:ext uri="{BB962C8B-B14F-4D97-AF65-F5344CB8AC3E}">
        <p14:creationId xmlns:p14="http://schemas.microsoft.com/office/powerpoint/2010/main" val="425639564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s-Latn-B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C06B9C-569B-4D47-9A3F-D8CFD8AF2F39}" type="slidenum">
              <a:rPr lang="bs-Latn-BA" smtClean="0"/>
              <a:t>19</a:t>
            </a:fld>
            <a:endParaRPr lang="bs-Latn-BA"/>
          </a:p>
        </p:txBody>
      </p:sp>
    </p:spTree>
    <p:extLst>
      <p:ext uri="{BB962C8B-B14F-4D97-AF65-F5344CB8AC3E}">
        <p14:creationId xmlns:p14="http://schemas.microsoft.com/office/powerpoint/2010/main" val="37078358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s-Latn-B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C06B9C-569B-4D47-9A3F-D8CFD8AF2F39}" type="slidenum">
              <a:rPr lang="bs-Latn-BA" smtClean="0"/>
              <a:t>20</a:t>
            </a:fld>
            <a:endParaRPr lang="bs-Latn-BA"/>
          </a:p>
        </p:txBody>
      </p:sp>
    </p:spTree>
    <p:extLst>
      <p:ext uri="{BB962C8B-B14F-4D97-AF65-F5344CB8AC3E}">
        <p14:creationId xmlns:p14="http://schemas.microsoft.com/office/powerpoint/2010/main" val="385405433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s-Latn-B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C06B9C-569B-4D47-9A3F-D8CFD8AF2F39}" type="slidenum">
              <a:rPr lang="bs-Latn-BA" smtClean="0"/>
              <a:t>21</a:t>
            </a:fld>
            <a:endParaRPr lang="bs-Latn-BA"/>
          </a:p>
        </p:txBody>
      </p:sp>
    </p:spTree>
    <p:extLst>
      <p:ext uri="{BB962C8B-B14F-4D97-AF65-F5344CB8AC3E}">
        <p14:creationId xmlns:p14="http://schemas.microsoft.com/office/powerpoint/2010/main" val="10514475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5A784-C88C-421F-85AA-624BF1C568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bs-Latn-B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4FBF9F-E125-4167-9764-470C7DA354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bs-Latn-B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0ECB7-72D9-47A5-AD9A-5809F4688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17172-6C36-4693-AEC7-6531B228D36A}" type="datetimeFigureOut">
              <a:rPr lang="bs-Latn-BA" smtClean="0"/>
              <a:t>10. 7. 2026.</a:t>
            </a:fld>
            <a:endParaRPr lang="bs-Latn-B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652C16-3977-4DF1-8119-4A3F75D63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s-Latn-B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68ABB7-AE34-4451-BD3B-17FCADED2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74002-412B-448B-ACD9-3D02CBE66EFF}" type="slidenum">
              <a:rPr lang="bs-Latn-BA" smtClean="0"/>
              <a:t>‹#›</a:t>
            </a:fld>
            <a:endParaRPr lang="bs-Latn-BA"/>
          </a:p>
        </p:txBody>
      </p:sp>
    </p:spTree>
    <p:extLst>
      <p:ext uri="{BB962C8B-B14F-4D97-AF65-F5344CB8AC3E}">
        <p14:creationId xmlns:p14="http://schemas.microsoft.com/office/powerpoint/2010/main" val="452045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CD6AA-4FBE-4711-A931-A8B495440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s-Latn-B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373AF1-03C6-43F7-872B-DB2E1A8CFD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s-Latn-B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FDA79C-1E1D-4555-A654-A22BE2603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17172-6C36-4693-AEC7-6531B228D36A}" type="datetimeFigureOut">
              <a:rPr lang="bs-Latn-BA" smtClean="0"/>
              <a:t>10. 7. 2026.</a:t>
            </a:fld>
            <a:endParaRPr lang="bs-Latn-B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56FCA8-6650-4836-8FCE-53B01A8E8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s-Latn-B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3C3D61-75F6-4980-9C58-B2014B91E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74002-412B-448B-ACD9-3D02CBE66EFF}" type="slidenum">
              <a:rPr lang="bs-Latn-BA" smtClean="0"/>
              <a:t>‹#›</a:t>
            </a:fld>
            <a:endParaRPr lang="bs-Latn-BA"/>
          </a:p>
        </p:txBody>
      </p:sp>
    </p:spTree>
    <p:extLst>
      <p:ext uri="{BB962C8B-B14F-4D97-AF65-F5344CB8AC3E}">
        <p14:creationId xmlns:p14="http://schemas.microsoft.com/office/powerpoint/2010/main" val="1772181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FCFBB-560F-4F43-8213-248E2CA72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bs-Latn-B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C9863B-C9D9-486B-80FA-002F17EF46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E604CC-9856-4EC2-A622-2336103D3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17172-6C36-4693-AEC7-6531B228D36A}" type="datetimeFigureOut">
              <a:rPr lang="bs-Latn-BA" smtClean="0"/>
              <a:t>10. 7. 2026.</a:t>
            </a:fld>
            <a:endParaRPr lang="bs-Latn-B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B6D9D7-A4F8-4C31-AE16-6FBA07093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s-Latn-B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595C3-D095-4C14-A4C1-4616B89DD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74002-412B-448B-ACD9-3D02CBE66EFF}" type="slidenum">
              <a:rPr lang="bs-Latn-BA" smtClean="0"/>
              <a:t>‹#›</a:t>
            </a:fld>
            <a:endParaRPr lang="bs-Latn-BA"/>
          </a:p>
        </p:txBody>
      </p:sp>
    </p:spTree>
    <p:extLst>
      <p:ext uri="{BB962C8B-B14F-4D97-AF65-F5344CB8AC3E}">
        <p14:creationId xmlns:p14="http://schemas.microsoft.com/office/powerpoint/2010/main" val="1789743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58CC9-42AF-4E97-AC75-E17700FFC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s-Latn-B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08790-248B-4028-8FD8-A84B2A4CEB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s-Latn-B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705875-2793-44CA-86AD-BC2F087EA7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s-Latn-B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6C8CFE-74E9-4831-859D-7D928C80A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17172-6C36-4693-AEC7-6531B228D36A}" type="datetimeFigureOut">
              <a:rPr lang="bs-Latn-BA" smtClean="0"/>
              <a:t>10. 7. 2026.</a:t>
            </a:fld>
            <a:endParaRPr lang="bs-Latn-B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061133-34F9-46EC-B0AC-CBC4C3BF9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s-Latn-B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58DF13-945A-4B55-B413-6D00C163F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74002-412B-448B-ACD9-3D02CBE66EFF}" type="slidenum">
              <a:rPr lang="bs-Latn-BA" smtClean="0"/>
              <a:t>‹#›</a:t>
            </a:fld>
            <a:endParaRPr lang="bs-Latn-BA"/>
          </a:p>
        </p:txBody>
      </p:sp>
    </p:spTree>
    <p:extLst>
      <p:ext uri="{BB962C8B-B14F-4D97-AF65-F5344CB8AC3E}">
        <p14:creationId xmlns:p14="http://schemas.microsoft.com/office/powerpoint/2010/main" val="2554151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5DDDB-56EE-44FB-AE0A-E25ED5102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bs-Latn-B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D1CB16-2748-412A-A506-3AF93A1573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5E538A-7A0D-4024-95D3-A9500EC062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s-Latn-B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5BBF2D-9FB5-4349-BED6-FBD3856BBD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A9E108-92F5-41E5-8EB6-E0BC928F8F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s-Latn-B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9AD4F3-448E-4EC4-B647-5625B72DA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17172-6C36-4693-AEC7-6531B228D36A}" type="datetimeFigureOut">
              <a:rPr lang="bs-Latn-BA" smtClean="0"/>
              <a:t>10. 7. 2026.</a:t>
            </a:fld>
            <a:endParaRPr lang="bs-Latn-B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8084D2-14A3-4082-B70F-9851D082F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s-Latn-B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070BC7-B6CB-481E-A568-3A28AACE6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74002-412B-448B-ACD9-3D02CBE66EFF}" type="slidenum">
              <a:rPr lang="bs-Latn-BA" smtClean="0"/>
              <a:t>‹#›</a:t>
            </a:fld>
            <a:endParaRPr lang="bs-Latn-BA"/>
          </a:p>
        </p:txBody>
      </p:sp>
    </p:spTree>
    <p:extLst>
      <p:ext uri="{BB962C8B-B14F-4D97-AF65-F5344CB8AC3E}">
        <p14:creationId xmlns:p14="http://schemas.microsoft.com/office/powerpoint/2010/main" val="1450814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37FD3-2198-4015-99BD-EAA899D9B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s-Latn-B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C92FE9-4F9B-4329-BA31-F237B6C2C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17172-6C36-4693-AEC7-6531B228D36A}" type="datetimeFigureOut">
              <a:rPr lang="bs-Latn-BA" smtClean="0"/>
              <a:t>10. 7. 2026.</a:t>
            </a:fld>
            <a:endParaRPr lang="bs-Latn-B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05C584-7E76-450D-B8B1-B424421B8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s-Latn-B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3D9CF8-2A4D-4F63-9548-0BF33B262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74002-412B-448B-ACD9-3D02CBE66EFF}" type="slidenum">
              <a:rPr lang="bs-Latn-BA" smtClean="0"/>
              <a:t>‹#›</a:t>
            </a:fld>
            <a:endParaRPr lang="bs-Latn-BA"/>
          </a:p>
        </p:txBody>
      </p:sp>
    </p:spTree>
    <p:extLst>
      <p:ext uri="{BB962C8B-B14F-4D97-AF65-F5344CB8AC3E}">
        <p14:creationId xmlns:p14="http://schemas.microsoft.com/office/powerpoint/2010/main" val="391380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9BA5A5-DAFF-474A-9308-5AB372600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17172-6C36-4693-AEC7-6531B228D36A}" type="datetimeFigureOut">
              <a:rPr lang="bs-Latn-BA" smtClean="0"/>
              <a:t>10. 7. 2026.</a:t>
            </a:fld>
            <a:endParaRPr lang="bs-Latn-B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7A1820-F148-42BA-AA35-A464931AF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s-Latn-B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DC8D68-9EB6-4A5B-9249-C5C4C39FE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74002-412B-448B-ACD9-3D02CBE66EFF}" type="slidenum">
              <a:rPr lang="bs-Latn-BA" smtClean="0"/>
              <a:t>‹#›</a:t>
            </a:fld>
            <a:endParaRPr lang="bs-Latn-BA"/>
          </a:p>
        </p:txBody>
      </p:sp>
    </p:spTree>
    <p:extLst>
      <p:ext uri="{BB962C8B-B14F-4D97-AF65-F5344CB8AC3E}">
        <p14:creationId xmlns:p14="http://schemas.microsoft.com/office/powerpoint/2010/main" val="3824625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5226C-3377-4579-B7A3-BA9839418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bs-Latn-B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27AF0-D814-4D2C-BE72-52A8D397FD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s-Latn-B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8FBF00-41F4-48E6-BCDC-5E9443D219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3C339E-BD78-4192-A5CC-3611930D4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17172-6C36-4693-AEC7-6531B228D36A}" type="datetimeFigureOut">
              <a:rPr lang="bs-Latn-BA" smtClean="0"/>
              <a:t>10. 7. 2026.</a:t>
            </a:fld>
            <a:endParaRPr lang="bs-Latn-B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BF4C4A-497E-4B9D-9391-4D5DDA242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s-Latn-B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A9FF78-869D-4929-8F8C-08356CA2A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74002-412B-448B-ACD9-3D02CBE66EFF}" type="slidenum">
              <a:rPr lang="bs-Latn-BA" smtClean="0"/>
              <a:t>‹#›</a:t>
            </a:fld>
            <a:endParaRPr lang="bs-Latn-BA"/>
          </a:p>
        </p:txBody>
      </p:sp>
    </p:spTree>
    <p:extLst>
      <p:ext uri="{BB962C8B-B14F-4D97-AF65-F5344CB8AC3E}">
        <p14:creationId xmlns:p14="http://schemas.microsoft.com/office/powerpoint/2010/main" val="1345226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3B243-B606-4B6E-A094-48CF78782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bs-Latn-B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ECA569-653A-46B3-B291-D39E87B06E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bs-Latn-B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6D16E5-BAE8-4143-82BC-239933C542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98A3D2-DF7A-45A7-8EC9-155242BD6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17172-6C36-4693-AEC7-6531B228D36A}" type="datetimeFigureOut">
              <a:rPr lang="bs-Latn-BA" smtClean="0"/>
              <a:t>10. 7. 2026.</a:t>
            </a:fld>
            <a:endParaRPr lang="bs-Latn-B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2843D2-9739-458B-913C-2D3AE4EAB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s-Latn-B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556584-26CA-48F5-9A72-3F93CABBE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74002-412B-448B-ACD9-3D02CBE66EFF}" type="slidenum">
              <a:rPr lang="bs-Latn-BA" smtClean="0"/>
              <a:t>‹#›</a:t>
            </a:fld>
            <a:endParaRPr lang="bs-Latn-BA"/>
          </a:p>
        </p:txBody>
      </p:sp>
    </p:spTree>
    <p:extLst>
      <p:ext uri="{BB962C8B-B14F-4D97-AF65-F5344CB8AC3E}">
        <p14:creationId xmlns:p14="http://schemas.microsoft.com/office/powerpoint/2010/main" val="3236084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6276A-B85F-4A5D-85BA-AC274AFF8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s-Latn-B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E2E793-87A4-40FD-B2E5-4BB1C757B3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s-Latn-B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0129C2-175C-4E02-A569-E36763995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17172-6C36-4693-AEC7-6531B228D36A}" type="datetimeFigureOut">
              <a:rPr lang="bs-Latn-BA" smtClean="0"/>
              <a:t>10. 7. 2026.</a:t>
            </a:fld>
            <a:endParaRPr lang="bs-Latn-B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7F793D-D806-42E6-A9DD-6928C454B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s-Latn-B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7DFEA-2757-41FA-9428-EE576B23F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74002-412B-448B-ACD9-3D02CBE66EFF}" type="slidenum">
              <a:rPr lang="bs-Latn-BA" smtClean="0"/>
              <a:t>‹#›</a:t>
            </a:fld>
            <a:endParaRPr lang="bs-Latn-BA"/>
          </a:p>
        </p:txBody>
      </p:sp>
    </p:spTree>
    <p:extLst>
      <p:ext uri="{BB962C8B-B14F-4D97-AF65-F5344CB8AC3E}">
        <p14:creationId xmlns:p14="http://schemas.microsoft.com/office/powerpoint/2010/main" val="1418979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3ECCDE-15DC-4AD8-83CB-E9A80EDBCB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bs-Latn-B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84AFB5-4F7C-410A-8FE5-6F719E9AEF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s-Latn-B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7677FE-49B4-49A8-8D24-AC9486238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17172-6C36-4693-AEC7-6531B228D36A}" type="datetimeFigureOut">
              <a:rPr lang="bs-Latn-BA" smtClean="0"/>
              <a:t>10. 7. 2026.</a:t>
            </a:fld>
            <a:endParaRPr lang="bs-Latn-B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F274CF-3192-40B9-B8F0-DDF053AC5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s-Latn-B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40D48E-8D06-4724-8C2A-8AA02BA10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74002-412B-448B-ACD9-3D02CBE66EFF}" type="slidenum">
              <a:rPr lang="bs-Latn-BA" smtClean="0"/>
              <a:t>‹#›</a:t>
            </a:fld>
            <a:endParaRPr lang="bs-Latn-BA"/>
          </a:p>
        </p:txBody>
      </p:sp>
    </p:spTree>
    <p:extLst>
      <p:ext uri="{BB962C8B-B14F-4D97-AF65-F5344CB8AC3E}">
        <p14:creationId xmlns:p14="http://schemas.microsoft.com/office/powerpoint/2010/main" val="967892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3F72F8-7C47-4599-8A00-C1B4D4991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bs-Latn-B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09F6CA-8B1A-4ED1-BD93-F2B19239D3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s-Latn-B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DEB921-0B60-477D-841D-61E6F36D40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617172-6C36-4693-AEC7-6531B228D36A}" type="datetimeFigureOut">
              <a:rPr lang="bs-Latn-BA" smtClean="0"/>
              <a:t>10. 7. 2026.</a:t>
            </a:fld>
            <a:endParaRPr lang="bs-Latn-B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086DD1-F2BD-4BEA-BA79-4B10A8BC99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s-Latn-B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1BD7F7-B364-4167-971B-EC42F97E85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C74002-412B-448B-ACD9-3D02CBE66EFF}" type="slidenum">
              <a:rPr lang="bs-Latn-BA" smtClean="0"/>
              <a:t>‹#›</a:t>
            </a:fld>
            <a:endParaRPr lang="bs-Latn-BA"/>
          </a:p>
        </p:txBody>
      </p:sp>
    </p:spTree>
    <p:extLst>
      <p:ext uri="{BB962C8B-B14F-4D97-AF65-F5344CB8AC3E}">
        <p14:creationId xmlns:p14="http://schemas.microsoft.com/office/powerpoint/2010/main" val="1131383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r-Latn-R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33000"/>
            <a:lum/>
          </a:blip>
          <a:srcRect/>
          <a:stretch>
            <a:fillRect l="16000" t="-37000" r="-26000" b="-3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097B2-643A-4359-B78B-267AA4BE20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0025" y="2337271"/>
            <a:ext cx="6734175" cy="947738"/>
          </a:xfrm>
        </p:spPr>
        <p:txBody>
          <a:bodyPr>
            <a:normAutofit/>
          </a:bodyPr>
          <a:lstStyle/>
          <a:p>
            <a:pPr algn="l"/>
            <a:r>
              <a:rPr lang="sv-SE" sz="3600" b="1" dirty="0">
                <a:solidFill>
                  <a:schemeClr val="accent1">
                    <a:lumMod val="50000"/>
                  </a:schemeClr>
                </a:solidFill>
              </a:rPr>
              <a:t>Klasifikacija antimikrobnih peptida</a:t>
            </a:r>
            <a:endParaRPr lang="bs-Latn-BA" sz="36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71C152-F8CA-4458-BC77-34D2FD881A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0025" y="3529570"/>
            <a:ext cx="2762250" cy="1294284"/>
          </a:xfrm>
        </p:spPr>
        <p:txBody>
          <a:bodyPr>
            <a:noAutofit/>
          </a:bodyPr>
          <a:lstStyle/>
          <a:p>
            <a:pPr algn="l"/>
            <a:r>
              <a:rPr lang="bs-Latn-BA" sz="1600" b="1" dirty="0">
                <a:latin typeface="+mj-lt"/>
              </a:rPr>
              <a:t>Studentica: Ana Ljubić</a:t>
            </a:r>
          </a:p>
          <a:p>
            <a:pPr algn="l"/>
            <a:r>
              <a:rPr lang="bs-Latn-BA" sz="1600" b="1" dirty="0">
                <a:latin typeface="+mj-lt"/>
              </a:rPr>
              <a:t>Kolegij: Bioinformatika</a:t>
            </a:r>
          </a:p>
          <a:p>
            <a:pPr algn="l"/>
            <a:r>
              <a:rPr lang="bs-Latn-BA" sz="1600" b="1" dirty="0">
                <a:latin typeface="+mj-lt"/>
              </a:rPr>
              <a:t>Sveučilište u Mostaru</a:t>
            </a:r>
          </a:p>
          <a:p>
            <a:pPr algn="l"/>
            <a:endParaRPr lang="bs-Latn-BA" sz="1600" b="1" dirty="0">
              <a:latin typeface="+mj-lt"/>
            </a:endParaRPr>
          </a:p>
          <a:p>
            <a:endParaRPr lang="bs-Latn-BA" sz="1600" b="1" dirty="0"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49AE84-27E2-40D9-8F97-556CE28A3282}"/>
              </a:ext>
            </a:extLst>
          </p:cNvPr>
          <p:cNvSpPr txBox="1"/>
          <p:nvPr/>
        </p:nvSpPr>
        <p:spPr>
          <a:xfrm>
            <a:off x="5065975" y="6362700"/>
            <a:ext cx="23254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s-Latn-BA" sz="1800" b="1" dirty="0">
                <a:latin typeface="+mj-lt"/>
              </a:rPr>
              <a:t>Mostar, 2026.</a:t>
            </a:r>
          </a:p>
        </p:txBody>
      </p:sp>
    </p:spTree>
    <p:extLst>
      <p:ext uri="{BB962C8B-B14F-4D97-AF65-F5344CB8AC3E}">
        <p14:creationId xmlns:p14="http://schemas.microsoft.com/office/powerpoint/2010/main" val="3380383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1233D-813E-424B-9283-191BBF6486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2728" y="2189419"/>
            <a:ext cx="595640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bs-Latn-BA" dirty="0"/>
              <a:t>📌 Uvod</a:t>
            </a:r>
          </a:p>
          <a:p>
            <a:pPr marL="0" indent="0">
              <a:buNone/>
            </a:pPr>
            <a:r>
              <a:rPr lang="bs-Latn-BA" dirty="0"/>
              <a:t>📌 Cilj projekta</a:t>
            </a:r>
          </a:p>
          <a:p>
            <a:pPr marL="0" indent="0">
              <a:buNone/>
            </a:pPr>
            <a:r>
              <a:rPr lang="bs-Latn-BA" dirty="0"/>
              <a:t>📌 Korišteni podaci</a:t>
            </a:r>
          </a:p>
          <a:p>
            <a:pPr marL="0" indent="0">
              <a:buNone/>
            </a:pPr>
            <a:r>
              <a:rPr lang="bs-Latn-BA" dirty="0"/>
              <a:t>📌 Priprema podataka</a:t>
            </a:r>
          </a:p>
          <a:p>
            <a:pPr marL="0" indent="0">
              <a:buNone/>
            </a:pPr>
            <a:r>
              <a:rPr lang="bs-Latn-BA" dirty="0"/>
              <a:t>📌 </a:t>
            </a:r>
            <a:r>
              <a:rPr lang="bs-Latn-BA" sz="2800" dirty="0"/>
              <a:t>Izdvajanje bioinformatičkih značajki</a:t>
            </a:r>
            <a:endParaRPr lang="bs-Latn-BA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bs-Latn-BA" dirty="0"/>
              <a:t>📌 </a:t>
            </a:r>
            <a:r>
              <a:rPr lang="bs-Latn-BA" dirty="0">
                <a:solidFill>
                  <a:srgbClr val="000000"/>
                </a:solidFill>
              </a:rPr>
              <a:t>Modeliranje</a:t>
            </a:r>
          </a:p>
          <a:p>
            <a:pPr marL="0" indent="0">
              <a:buNone/>
            </a:pPr>
            <a:r>
              <a:rPr lang="bs-Latn-BA" dirty="0"/>
              <a:t>📌 </a:t>
            </a:r>
            <a:r>
              <a:rPr lang="bs-Latn-BA" sz="2800" dirty="0"/>
              <a:t>Evaluacija modela</a:t>
            </a:r>
          </a:p>
          <a:p>
            <a:pPr marL="0" indent="0">
              <a:buNone/>
            </a:pPr>
            <a:r>
              <a:rPr lang="bs-Latn-BA" dirty="0"/>
              <a:t>📌Zaključak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A9D766-DF6E-4BEF-BECF-6D4A3422CA89}"/>
              </a:ext>
            </a:extLst>
          </p:cNvPr>
          <p:cNvSpPr/>
          <p:nvPr/>
        </p:nvSpPr>
        <p:spPr>
          <a:xfrm>
            <a:off x="0" y="0"/>
            <a:ext cx="12192000" cy="1690688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bs-Latn-BA" sz="4800" b="1" dirty="0">
                <a:solidFill>
                  <a:schemeClr val="bg1"/>
                </a:solidFill>
              </a:rPr>
              <a:t> SADRŽAJ</a:t>
            </a:r>
            <a:r>
              <a:rPr lang="bs-Latn-BA" sz="4800" b="1" dirty="0"/>
              <a:t>: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6107FFF3-C28C-44CC-8C4C-FB79FC529C1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418"/>
          <a:stretch/>
        </p:blipFill>
        <p:spPr>
          <a:xfrm>
            <a:off x="6529137" y="2025136"/>
            <a:ext cx="5277852" cy="451562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044474309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6824E6-FB66-403A-9B13-16724006C0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6336" y="1826580"/>
            <a:ext cx="5440696" cy="823912"/>
          </a:xfrm>
        </p:spPr>
        <p:txBody>
          <a:bodyPr/>
          <a:lstStyle/>
          <a:p>
            <a:r>
              <a:rPr lang="bs-Latn-BA" sz="2800" dirty="0">
                <a:latin typeface="+mj-lt"/>
              </a:rPr>
              <a:t>Antimikrobni peptidi (AMP)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1233D-813E-424B-9283-191BBF6486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4569" y="3148314"/>
            <a:ext cx="6090401" cy="3519149"/>
          </a:xfrm>
        </p:spPr>
        <p:txBody>
          <a:bodyPr>
            <a:noAutofit/>
          </a:bodyPr>
          <a:lstStyle/>
          <a:p>
            <a:r>
              <a:rPr lang="bs-Latn-BA" sz="2000" dirty="0">
                <a:latin typeface="+mj-lt"/>
              </a:rPr>
              <a:t>prirodne molekule koje štite organizam od mikroorganizama</a:t>
            </a:r>
          </a:p>
          <a:p>
            <a:r>
              <a:rPr lang="bs-Latn-BA" sz="2000" dirty="0">
                <a:latin typeface="+mj-lt"/>
              </a:rPr>
              <a:t>djeluju protiv bakterija, gljivica i virusa</a:t>
            </a:r>
          </a:p>
          <a:p>
            <a:r>
              <a:rPr lang="bs-Latn-BA" sz="2000" dirty="0">
                <a:latin typeface="+mj-lt"/>
              </a:rPr>
              <a:t>mogu biti alternativa antibioticima</a:t>
            </a:r>
          </a:p>
          <a:p>
            <a:pPr marL="0" indent="0">
              <a:buNone/>
            </a:pPr>
            <a:endParaRPr lang="bs-Latn-BA" sz="2000" dirty="0">
              <a:latin typeface="+mj-lt"/>
            </a:endParaRPr>
          </a:p>
          <a:p>
            <a:pPr marL="0" indent="0">
              <a:buNone/>
            </a:pPr>
            <a:r>
              <a:rPr lang="bs-Latn-BA" sz="2000" dirty="0">
                <a:latin typeface="+mj-lt"/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A9D766-DF6E-4BEF-BECF-6D4A3422CA89}"/>
              </a:ext>
            </a:extLst>
          </p:cNvPr>
          <p:cNvSpPr/>
          <p:nvPr/>
        </p:nvSpPr>
        <p:spPr>
          <a:xfrm>
            <a:off x="0" y="0"/>
            <a:ext cx="12192000" cy="1690688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bs-Latn-BA" sz="4800" b="1" dirty="0">
                <a:solidFill>
                  <a:schemeClr val="bg1"/>
                </a:solidFill>
              </a:rPr>
              <a:t>UVOD</a:t>
            </a:r>
            <a:endParaRPr lang="bs-Latn-BA" sz="4800" b="1" dirty="0"/>
          </a:p>
        </p:txBody>
      </p:sp>
      <p:pic>
        <p:nvPicPr>
          <p:cNvPr id="9" name="Content Placeholder 10">
            <a:extLst>
              <a:ext uri="{FF2B5EF4-FFF2-40B4-BE49-F238E27FC236}">
                <a16:creationId xmlns:a16="http://schemas.microsoft.com/office/drawing/2014/main" id="{3E3469D3-2675-4954-991A-E7CE65B3FBB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418"/>
          <a:stretch/>
        </p:blipFill>
        <p:spPr>
          <a:xfrm>
            <a:off x="6096000" y="2025136"/>
            <a:ext cx="5470043" cy="451562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738612397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1233D-813E-424B-9283-191BBF6486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5957" y="2025136"/>
            <a:ext cx="5735474" cy="471260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bs-Latn-BA" sz="1800" dirty="0">
                <a:latin typeface="+mj-lt"/>
              </a:rPr>
              <a:t>Cilj projekta bio je razviti modele strojnog učenja koji razlikuju antimikrobne (AMP) od neantimikrobnih (non-AMP) peptida.</a:t>
            </a:r>
          </a:p>
          <a:p>
            <a:pPr marL="0" indent="0">
              <a:buNone/>
            </a:pPr>
            <a:endParaRPr lang="bs-Latn-BA" sz="1800" dirty="0">
              <a:latin typeface="+mj-lt"/>
            </a:endParaRPr>
          </a:p>
          <a:p>
            <a:pPr marL="0" indent="0">
              <a:buNone/>
            </a:pPr>
            <a:r>
              <a:rPr lang="bs-Latn-BA" sz="1800" dirty="0">
                <a:latin typeface="+mj-lt"/>
              </a:rPr>
              <a:t>Za klasifikaciju korištene su značajke:</a:t>
            </a:r>
          </a:p>
          <a:p>
            <a:r>
              <a:rPr lang="bs-Latn-BA" sz="1800" dirty="0">
                <a:latin typeface="+mj-lt"/>
              </a:rPr>
              <a:t>duljina sekvence</a:t>
            </a:r>
          </a:p>
          <a:p>
            <a:r>
              <a:rPr lang="bs-Latn-BA" sz="1800" dirty="0">
                <a:latin typeface="+mj-lt"/>
              </a:rPr>
              <a:t>neto naboj</a:t>
            </a:r>
          </a:p>
          <a:p>
            <a:r>
              <a:rPr lang="bs-Latn-BA" sz="1800" dirty="0">
                <a:latin typeface="+mj-lt"/>
              </a:rPr>
              <a:t>hidrofobnost</a:t>
            </a:r>
          </a:p>
          <a:p>
            <a:r>
              <a:rPr lang="bs-Latn-BA" sz="1800" dirty="0">
                <a:latin typeface="+mj-lt"/>
              </a:rPr>
              <a:t>aminokiselinski sastav (AAC)</a:t>
            </a:r>
          </a:p>
          <a:p>
            <a:pPr marL="0" indent="0">
              <a:buNone/>
            </a:pPr>
            <a:endParaRPr lang="bs-Latn-BA" sz="1800" dirty="0">
              <a:latin typeface="+mj-lt"/>
            </a:endParaRPr>
          </a:p>
          <a:p>
            <a:pPr marL="0" indent="0">
              <a:buNone/>
            </a:pPr>
            <a:r>
              <a:rPr lang="bs-Latn-BA" sz="1800" dirty="0">
                <a:solidFill>
                  <a:srgbClr val="000000"/>
                </a:solidFill>
                <a:latin typeface="+mj-lt"/>
              </a:rPr>
              <a:t>Razvijeni su Random Forest i SVM modeli koji na temelju bioinformatičkih značajki razlikuju AMP od non-AMP peptida.</a:t>
            </a:r>
            <a:endParaRPr lang="bs-Latn-BA" sz="1800" dirty="0">
              <a:latin typeface="+mj-lt"/>
            </a:endParaRPr>
          </a:p>
          <a:p>
            <a:pPr marL="0" indent="0">
              <a:buNone/>
            </a:pPr>
            <a:endParaRPr lang="bs-Latn-BA" sz="1800" dirty="0">
              <a:latin typeface="+mj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A9D766-DF6E-4BEF-BECF-6D4A3422CA89}"/>
              </a:ext>
            </a:extLst>
          </p:cNvPr>
          <p:cNvSpPr/>
          <p:nvPr/>
        </p:nvSpPr>
        <p:spPr>
          <a:xfrm>
            <a:off x="0" y="0"/>
            <a:ext cx="12192000" cy="1690688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bs-Latn-BA" sz="4800" b="1" dirty="0">
                <a:solidFill>
                  <a:schemeClr val="bg1"/>
                </a:solidFill>
              </a:rPr>
              <a:t> </a:t>
            </a:r>
            <a:r>
              <a:rPr lang="bs-Latn-BA" sz="4800" b="1" dirty="0"/>
              <a:t>CILJ PROJEKTA:</a:t>
            </a:r>
          </a:p>
        </p:txBody>
      </p:sp>
      <p:pic>
        <p:nvPicPr>
          <p:cNvPr id="7" name="Content Placeholder 10">
            <a:extLst>
              <a:ext uri="{FF2B5EF4-FFF2-40B4-BE49-F238E27FC236}">
                <a16:creationId xmlns:a16="http://schemas.microsoft.com/office/drawing/2014/main" id="{7A503039-A275-44F8-88E2-CAFE19C02DB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418"/>
          <a:stretch/>
        </p:blipFill>
        <p:spPr>
          <a:xfrm>
            <a:off x="6096000" y="2025136"/>
            <a:ext cx="5470043" cy="451562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5B2BE60-814D-4E0D-BB24-D9327CF14B40}"/>
              </a:ext>
            </a:extLst>
          </p:cNvPr>
          <p:cNvSpPr txBox="1"/>
          <p:nvPr/>
        </p:nvSpPr>
        <p:spPr>
          <a:xfrm>
            <a:off x="10667999" y="6567948"/>
            <a:ext cx="23302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s-Latn-BA" sz="1000" dirty="0">
                <a:solidFill>
                  <a:schemeClr val="bg1">
                    <a:lumMod val="95000"/>
                  </a:schemeClr>
                </a:solidFill>
              </a:rPr>
              <a:t>Rendom – es vi em</a:t>
            </a:r>
          </a:p>
        </p:txBody>
      </p:sp>
    </p:spTree>
    <p:extLst>
      <p:ext uri="{BB962C8B-B14F-4D97-AF65-F5344CB8AC3E}">
        <p14:creationId xmlns:p14="http://schemas.microsoft.com/office/powerpoint/2010/main" val="3934021252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1233D-813E-424B-9283-191BBF6486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2729" y="2189419"/>
            <a:ext cx="5181600" cy="4351338"/>
          </a:xfrm>
        </p:spPr>
        <p:txBody>
          <a:bodyPr>
            <a:normAutofit/>
          </a:bodyPr>
          <a:lstStyle/>
          <a:p>
            <a:r>
              <a:rPr lang="bs-Latn-BA" b="1" dirty="0"/>
              <a:t>DBAASP </a:t>
            </a:r>
            <a:r>
              <a:rPr lang="en-US" b="1" dirty="0"/>
              <a:t>(Database of Antimicrobial Activity and Structure of Peptides).</a:t>
            </a:r>
            <a:endParaRPr lang="bs-Latn-BA" dirty="0"/>
          </a:p>
          <a:p>
            <a:pPr lvl="1"/>
            <a:r>
              <a:rPr lang="bs-Latn-BA" dirty="0"/>
              <a:t>antimikrobni peptidi (AMP)</a:t>
            </a:r>
          </a:p>
          <a:p>
            <a:pPr marL="0" indent="0">
              <a:buNone/>
            </a:pPr>
            <a:endParaRPr lang="bs-Latn-BA" dirty="0"/>
          </a:p>
          <a:p>
            <a:pPr marL="0" indent="0">
              <a:buNone/>
            </a:pPr>
            <a:r>
              <a:rPr lang="bs-Latn-BA" b="1" dirty="0"/>
              <a:t>AMPBenchmark</a:t>
            </a:r>
            <a:endParaRPr lang="bs-Latn-BA" dirty="0"/>
          </a:p>
          <a:p>
            <a:pPr lvl="1"/>
            <a:r>
              <a:rPr lang="bs-Latn-BA" dirty="0"/>
              <a:t>neantimikrobni peptidi (non-AMP)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A9D766-DF6E-4BEF-BECF-6D4A3422CA89}"/>
              </a:ext>
            </a:extLst>
          </p:cNvPr>
          <p:cNvSpPr/>
          <p:nvPr/>
        </p:nvSpPr>
        <p:spPr>
          <a:xfrm>
            <a:off x="0" y="0"/>
            <a:ext cx="12192000" cy="1690688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bs-Latn-BA" sz="4800" b="1" dirty="0"/>
              <a:t> KORIŠTENI PODACI: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1E1783-ABE1-4236-8965-272C5131F8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3803" y="2189419"/>
            <a:ext cx="2970151" cy="106324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052" name="Picture 4" descr="Software – BioGenies">
            <a:extLst>
              <a:ext uri="{FF2B5EF4-FFF2-40B4-BE49-F238E27FC236}">
                <a16:creationId xmlns:a16="http://schemas.microsoft.com/office/drawing/2014/main" id="{FDF36948-F207-491B-9729-5E89BB221A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0100" y="3423235"/>
            <a:ext cx="2857500" cy="28575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D05EE1E-4E3B-4FF9-8D51-693E56581D2C}"/>
              </a:ext>
            </a:extLst>
          </p:cNvPr>
          <p:cNvSpPr txBox="1"/>
          <p:nvPr/>
        </p:nvSpPr>
        <p:spPr>
          <a:xfrm>
            <a:off x="10103954" y="6562727"/>
            <a:ext cx="23302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s-Latn-BA" sz="1000" dirty="0">
                <a:solidFill>
                  <a:schemeClr val="bg1">
                    <a:lumMod val="95000"/>
                  </a:schemeClr>
                </a:solidFill>
              </a:rPr>
              <a:t>De-be-a-a-es-pe i a-em-ep-benc-mark</a:t>
            </a:r>
          </a:p>
        </p:txBody>
      </p:sp>
    </p:spTree>
    <p:extLst>
      <p:ext uri="{BB962C8B-B14F-4D97-AF65-F5344CB8AC3E}">
        <p14:creationId xmlns:p14="http://schemas.microsoft.com/office/powerpoint/2010/main" val="1424723008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D8B7773C-741C-4278-9494-9AAA50A623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03601359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4284981F-F0DE-4B5A-B405-F449AC9A521B}"/>
              </a:ext>
            </a:extLst>
          </p:cNvPr>
          <p:cNvSpPr/>
          <p:nvPr/>
        </p:nvSpPr>
        <p:spPr>
          <a:xfrm rot="5400000">
            <a:off x="-2526174" y="2526174"/>
            <a:ext cx="6858000" cy="1805651"/>
          </a:xfrm>
          <a:prstGeom prst="rect">
            <a:avLst/>
          </a:prstGeom>
          <a:solidFill>
            <a:schemeClr val="tx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bs-Latn-BA" sz="4800" b="1" dirty="0"/>
          </a:p>
        </p:txBody>
      </p:sp>
    </p:spTree>
    <p:extLst>
      <p:ext uri="{BB962C8B-B14F-4D97-AF65-F5344CB8AC3E}">
        <p14:creationId xmlns:p14="http://schemas.microsoft.com/office/powerpoint/2010/main" val="1890062315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1233D-813E-424B-9283-191BBF6486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2730" y="1884619"/>
            <a:ext cx="7881460" cy="43878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bs-Latn-BA" sz="1400" dirty="0">
                <a:solidFill>
                  <a:srgbClr val="000000"/>
                </a:solidFill>
                <a:latin typeface="+mj-lt"/>
              </a:rPr>
              <a:t>Cilj: Iz izvornog skupa podataka pripremiti kvalitetan, očišćen i uravnotežen skup podataka koji će se koristiti za treniranje modela strojnog učenja.</a:t>
            </a:r>
          </a:p>
          <a:p>
            <a:pPr marL="0" indent="0">
              <a:buNone/>
            </a:pPr>
            <a:r>
              <a:rPr lang="bs-Latn-BA" sz="1400" b="1" dirty="0">
                <a:solidFill>
                  <a:srgbClr val="000000"/>
                </a:solidFill>
                <a:latin typeface="+mj-lt"/>
              </a:rPr>
              <a:t>1. Uvoz biblioteka</a:t>
            </a:r>
          </a:p>
          <a:p>
            <a:pPr marL="0" indent="0">
              <a:buNone/>
            </a:pPr>
            <a:r>
              <a:rPr lang="bs-Latn-BA" sz="1400" b="1" dirty="0">
                <a:solidFill>
                  <a:srgbClr val="000000"/>
                </a:solidFill>
                <a:latin typeface="+mj-lt"/>
              </a:rPr>
              <a:t>2. Učitavanje podataka i provjera ispravnosti podataka</a:t>
            </a:r>
          </a:p>
          <a:p>
            <a:r>
              <a:rPr lang="bs-Latn-BA" sz="1400" dirty="0">
                <a:solidFill>
                  <a:srgbClr val="000000"/>
                </a:solidFill>
                <a:latin typeface="+mj-lt"/>
              </a:rPr>
              <a:t>Učitan je skup podataka iz baze DBAASP, koja sadrži antimikrobne peptide. </a:t>
            </a:r>
          </a:p>
          <a:p>
            <a:pPr marL="0" indent="0">
              <a:buNone/>
            </a:pPr>
            <a:r>
              <a:rPr lang="bs-Latn-BA" sz="1400" b="1" dirty="0">
                <a:latin typeface="+mj-lt"/>
              </a:rPr>
              <a:t>3. Provjera tipova peptida</a:t>
            </a:r>
          </a:p>
          <a:p>
            <a:r>
              <a:rPr lang="bs-Latn-BA" sz="1400" dirty="0">
                <a:latin typeface="+mj-lt"/>
              </a:rPr>
              <a:t>Utvrđeno je da skup sadrži monomerne, multi-peptidne i multimerne peptide. </a:t>
            </a:r>
          </a:p>
          <a:p>
            <a:pPr marL="0" indent="0">
              <a:buNone/>
            </a:pPr>
            <a:r>
              <a:rPr lang="bs-Latn-BA" sz="1400" b="1" dirty="0">
                <a:latin typeface="+mj-lt"/>
              </a:rPr>
              <a:t>4. Filtriranje i čišćenje podataka</a:t>
            </a:r>
          </a:p>
          <a:p>
            <a:r>
              <a:rPr lang="bs-Latn-BA" sz="1400" dirty="0">
                <a:latin typeface="+mj-lt"/>
              </a:rPr>
              <a:t>Budući da je cilj projekta klasifikacija monomernih antimikrobnih peptida, u daljnjoj obradi zadržani su samo monomerni peptidi, dok su multi-peptidni i multimerni peptidi uklonjeni iz skupa podataka. </a:t>
            </a:r>
          </a:p>
          <a:p>
            <a:r>
              <a:rPr lang="bs-Latn-BA" sz="1400" dirty="0">
                <a:latin typeface="+mj-lt"/>
              </a:rPr>
              <a:t>Provedeno je čišćenje podataka uklanjanjem neispravnih i dupliciranih sekvenci. </a:t>
            </a:r>
          </a:p>
          <a:p>
            <a:pPr>
              <a:buFont typeface="Symbol" panose="05050102010706020507" pitchFamily="18" charset="2"/>
              <a:buChar char="Þ"/>
            </a:pPr>
            <a:r>
              <a:rPr lang="bs-Latn-BA" sz="1400" dirty="0">
                <a:latin typeface="+mj-lt"/>
              </a:rPr>
              <a:t>Nakon filtriranja u skupu je ostalo 1976 monomernih peptida</a:t>
            </a:r>
          </a:p>
          <a:p>
            <a:pPr>
              <a:buFont typeface="Symbol" panose="05050102010706020507" pitchFamily="18" charset="2"/>
              <a:buChar char="Þ"/>
            </a:pPr>
            <a:r>
              <a:rPr lang="bs-Latn-BA" sz="1400" dirty="0">
                <a:latin typeface="+mj-lt"/>
              </a:rPr>
              <a:t>Uklanjanjem neispravnih i dupliciranih sekvenci broj je smanjen na 1672 peptida.</a:t>
            </a:r>
          </a:p>
          <a:p>
            <a:endParaRPr lang="bs-Latn-BA" sz="1400" dirty="0">
              <a:latin typeface="+mj-lt"/>
            </a:endParaRPr>
          </a:p>
          <a:p>
            <a:endParaRPr lang="bs-Latn-BA" sz="1400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A9D766-DF6E-4BEF-BECF-6D4A3422CA89}"/>
              </a:ext>
            </a:extLst>
          </p:cNvPr>
          <p:cNvSpPr/>
          <p:nvPr/>
        </p:nvSpPr>
        <p:spPr>
          <a:xfrm>
            <a:off x="0" y="0"/>
            <a:ext cx="12192000" cy="1690688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bs-Latn-BA" sz="4800" b="1" dirty="0"/>
              <a:t>01. Priprema podataka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A468CD-6A3D-4B86-9A11-199F38D6D9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7471" y="2087084"/>
            <a:ext cx="2035664" cy="18175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42D6FEB-330C-4D4C-8094-C0FCE007C5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2181" y="4052213"/>
            <a:ext cx="3946243" cy="261664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62E1C76-E252-45BF-8F47-64A07A7F7D1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45042"/>
          <a:stretch/>
        </p:blipFill>
        <p:spPr>
          <a:xfrm>
            <a:off x="8298991" y="4078541"/>
            <a:ext cx="4755628" cy="2411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24543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D268A2E-C912-4EF7-9FB9-59498AA5C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bs-Latn-B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1233D-813E-424B-9283-191BBF6486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52518" y="2055813"/>
            <a:ext cx="6500566" cy="443706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bs-Latn-BA" sz="1800" b="1" dirty="0">
                <a:solidFill>
                  <a:srgbClr val="000000"/>
                </a:solidFill>
                <a:latin typeface="+mj-lt"/>
              </a:rPr>
              <a:t>5. </a:t>
            </a:r>
            <a:r>
              <a:rPr lang="pl-PL" sz="1800" b="1" dirty="0">
                <a:solidFill>
                  <a:srgbClr val="000000"/>
                </a:solidFill>
                <a:latin typeface="+mj-lt"/>
              </a:rPr>
              <a:t>Označavanje i priprema konačnog skupa podataka</a:t>
            </a:r>
          </a:p>
          <a:p>
            <a:r>
              <a:rPr lang="bs-Latn-BA" sz="1800" dirty="0">
                <a:solidFill>
                  <a:srgbClr val="000000"/>
                </a:solidFill>
                <a:latin typeface="+mj-lt"/>
              </a:rPr>
              <a:t>Nakon čišćenja svim antimikrobnim peptidima dodijeljena je oznaka AMP = 1.</a:t>
            </a:r>
          </a:p>
          <a:p>
            <a:r>
              <a:rPr lang="bs-Latn-BA" sz="1800" dirty="0">
                <a:solidFill>
                  <a:srgbClr val="000000"/>
                </a:solidFill>
                <a:latin typeface="+mj-lt"/>
              </a:rPr>
              <a:t>Analizirana je duljina peptidnih sekvenci te je utvrđeno da skup sadrži 1672 peptida prosječne duljine oko 21 aminokiseline.</a:t>
            </a:r>
          </a:p>
          <a:p>
            <a:r>
              <a:rPr lang="bs-Latn-BA" sz="1800" dirty="0">
                <a:solidFill>
                  <a:srgbClr val="000000"/>
                </a:solidFill>
                <a:latin typeface="+mj-lt"/>
              </a:rPr>
              <a:t>Izrađen je histogram raspodjele duljine sekvenci, koji pokazuje da u skupu prevladavaju kraći peptidi.</a:t>
            </a:r>
          </a:p>
          <a:p>
            <a:r>
              <a:rPr lang="bs-Latn-BA" sz="1800" dirty="0">
                <a:solidFill>
                  <a:srgbClr val="000000"/>
                </a:solidFill>
                <a:latin typeface="+mj-lt"/>
              </a:rPr>
              <a:t>Iz skupa AMPBenchmark izdvojene su non-AMP sekvence te je nasumično odabrano 1672 negativna primjera kojima je dodijeljena oznaka 0.</a:t>
            </a:r>
          </a:p>
          <a:p>
            <a:r>
              <a:rPr lang="bs-Latn-BA" sz="1800" dirty="0">
                <a:solidFill>
                  <a:srgbClr val="000000"/>
                </a:solidFill>
                <a:latin typeface="+mj-lt"/>
              </a:rPr>
              <a:t>Pozitivni i negativni primjeri spojeni su u uravnotežen skup od 3344 sekvence, koji je spremljen u datoteku dataset.csv za daljnje faze projekta.</a:t>
            </a:r>
          </a:p>
          <a:p>
            <a:pPr marL="0" indent="0">
              <a:buNone/>
            </a:pPr>
            <a:endParaRPr lang="bs-Latn-BA" sz="1800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A9D766-DF6E-4BEF-BECF-6D4A3422CA89}"/>
              </a:ext>
            </a:extLst>
          </p:cNvPr>
          <p:cNvSpPr/>
          <p:nvPr/>
        </p:nvSpPr>
        <p:spPr>
          <a:xfrm>
            <a:off x="0" y="0"/>
            <a:ext cx="12192000" cy="1690688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bs-Latn-BA" sz="4800" b="1" dirty="0"/>
              <a:t>01. Priprema podataka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DDAC568-52FC-4B68-B931-9ADAA94AAE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5936" y="1850421"/>
            <a:ext cx="5356508" cy="1862439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970F93BE-0F02-4DE5-BD39-163C4FFF5E15}"/>
              </a:ext>
            </a:extLst>
          </p:cNvPr>
          <p:cNvSpPr/>
          <p:nvPr/>
        </p:nvSpPr>
        <p:spPr>
          <a:xfrm>
            <a:off x="11505047" y="1850421"/>
            <a:ext cx="537397" cy="1608359"/>
          </a:xfrm>
          <a:prstGeom prst="ellipse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bs-Latn-BA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6913069-B81A-4BF8-A4E8-5CFE29FB6E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4847" y="1992495"/>
            <a:ext cx="4745833" cy="34407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E2EF61E-0A69-4D02-8246-9F37B23914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3084" y="2462560"/>
            <a:ext cx="5273497" cy="3482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010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D268A2E-C912-4EF7-9FB9-59498AA5C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bs-Latn-B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1233D-813E-424B-9283-191BBF6486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52517" y="2055813"/>
            <a:ext cx="6198753" cy="443706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bs-Latn-BA" sz="1800" b="1" dirty="0">
                <a:solidFill>
                  <a:srgbClr val="000000"/>
                </a:solidFill>
                <a:latin typeface="+mj-lt"/>
              </a:rPr>
              <a:t>Sažetak obrade podataka</a:t>
            </a:r>
            <a:endParaRPr lang="bs-Latn-BA" sz="1800" dirty="0">
              <a:solidFill>
                <a:srgbClr val="000000"/>
              </a:solidFill>
              <a:latin typeface="+mj-lt"/>
            </a:endParaRPr>
          </a:p>
          <a:p>
            <a:r>
              <a:rPr lang="pl-PL" sz="1800" dirty="0">
                <a:solidFill>
                  <a:srgbClr val="000000"/>
                </a:solidFill>
                <a:latin typeface="+mj-lt"/>
              </a:rPr>
              <a:t>Početni skup podataka: 2000 zapisa</a:t>
            </a:r>
          </a:p>
          <a:p>
            <a:r>
              <a:rPr lang="bs-Latn-BA" sz="1800" dirty="0">
                <a:solidFill>
                  <a:srgbClr val="000000"/>
                </a:solidFill>
                <a:latin typeface="+mj-lt"/>
              </a:rPr>
              <a:t>Nakon izdvajanja monomernih peptida: 1976 zapisa</a:t>
            </a:r>
          </a:p>
          <a:p>
            <a:r>
              <a:rPr lang="pl-PL" sz="1800" dirty="0">
                <a:solidFill>
                  <a:srgbClr val="000000"/>
                </a:solidFill>
                <a:latin typeface="+mj-lt"/>
              </a:rPr>
              <a:t>Nakon čišćenja sekvenci: 1672 zapisa</a:t>
            </a:r>
          </a:p>
          <a:p>
            <a:r>
              <a:rPr lang="it-IT" sz="1800" dirty="0">
                <a:solidFill>
                  <a:srgbClr val="000000"/>
                </a:solidFill>
                <a:latin typeface="+mj-lt"/>
              </a:rPr>
              <a:t>Uklonjeni su neispravni i duplicirani zapisi</a:t>
            </a:r>
          </a:p>
          <a:p>
            <a:r>
              <a:rPr lang="pl-PL" sz="1800" dirty="0">
                <a:solidFill>
                  <a:srgbClr val="000000"/>
                </a:solidFill>
                <a:latin typeface="+mj-lt"/>
              </a:rPr>
              <a:t>Dobiven je kvalitetan skup podataka za daljnje faze projekta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A9D766-DF6E-4BEF-BECF-6D4A3422CA89}"/>
              </a:ext>
            </a:extLst>
          </p:cNvPr>
          <p:cNvSpPr/>
          <p:nvPr/>
        </p:nvSpPr>
        <p:spPr>
          <a:xfrm>
            <a:off x="0" y="0"/>
            <a:ext cx="12192000" cy="1690688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bs-Latn-BA" sz="4800" b="1" dirty="0"/>
              <a:t>01. Priprema podataka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70B1C2-DD84-46CF-ACF0-340BBB2601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0619" y="2001110"/>
            <a:ext cx="3816470" cy="22018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1754742-DF5A-42E2-BD75-66BB496D4A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4221" y="4872158"/>
            <a:ext cx="4402899" cy="1291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177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D268A2E-C912-4EF7-9FB9-59498AA5C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bs-Latn-B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1233D-813E-424B-9283-191BBF6486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4602" y="1943519"/>
            <a:ext cx="11537322" cy="412161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bs-Latn-BA" sz="1800" dirty="0">
                <a:solidFill>
                  <a:srgbClr val="000000"/>
                </a:solidFill>
                <a:latin typeface="+mj-lt"/>
              </a:rPr>
              <a:t>Cilj: Izdvojiti bioinformatičke značajke iz peptidnih sekvenci i pretvoriti ih u numeričke vrijednosti koje modeli strojnog učenja mogu koristiti za učenje. Budući da modeli ne mogu izravno obrađivati tekstualne sekvence aminokiselina, bilo je potrebno svaku sekvencu opisati skupom numeričkih značajki.</a:t>
            </a:r>
          </a:p>
          <a:p>
            <a:pPr marL="0" indent="0">
              <a:buNone/>
            </a:pPr>
            <a:endParaRPr lang="bs-Latn-BA" sz="1800" dirty="0">
              <a:solidFill>
                <a:srgbClr val="000000"/>
              </a:solidFill>
              <a:latin typeface="+mj-lt"/>
            </a:endParaRPr>
          </a:p>
          <a:p>
            <a:pPr marL="0" indent="0">
              <a:buNone/>
            </a:pPr>
            <a:r>
              <a:rPr lang="bs-Latn-BA" sz="1800" b="1" dirty="0">
                <a:solidFill>
                  <a:srgbClr val="000000"/>
                </a:solidFill>
                <a:latin typeface="+mj-lt"/>
              </a:rPr>
              <a:t>1. Učitavanje skupa podataka</a:t>
            </a:r>
          </a:p>
          <a:p>
            <a:r>
              <a:rPr lang="bs-Latn-BA" sz="1800" dirty="0">
                <a:solidFill>
                  <a:srgbClr val="000000"/>
                </a:solidFill>
                <a:latin typeface="+mj-lt"/>
              </a:rPr>
              <a:t>Učitan je prethodno pripremljeni skup podataka dataset.csv. </a:t>
            </a:r>
          </a:p>
          <a:p>
            <a:r>
              <a:rPr lang="bs-Latn-BA" sz="1800" dirty="0">
                <a:solidFill>
                  <a:srgbClr val="000000"/>
                </a:solidFill>
                <a:latin typeface="+mj-lt"/>
              </a:rPr>
              <a:t>Skup sadrži identifikator peptida (ID), aminokiselinsku sekvencu (SEQUENCE) i oznaku klase (label), pri čemu vrijednost 1 označava antimikrobni peptid (AMP), a vrijednost 0 neantimikrobni peptid (non-AMP).</a:t>
            </a:r>
          </a:p>
          <a:p>
            <a:pPr marL="0" indent="0">
              <a:buNone/>
            </a:pPr>
            <a:r>
              <a:rPr lang="bs-Latn-BA" sz="1800" b="1" dirty="0">
                <a:solidFill>
                  <a:srgbClr val="000000"/>
                </a:solidFill>
                <a:latin typeface="+mj-lt"/>
              </a:rPr>
              <a:t>2. Provjera skupa podataka</a:t>
            </a:r>
          </a:p>
          <a:p>
            <a:pPr marL="0" indent="0">
              <a:buNone/>
            </a:pPr>
            <a:r>
              <a:rPr lang="bs-Latn-BA" sz="1800" b="1" dirty="0">
                <a:solidFill>
                  <a:srgbClr val="000000"/>
                </a:solidFill>
                <a:latin typeface="+mj-lt"/>
              </a:rPr>
              <a:t>3. Provjera kvalitete podataka</a:t>
            </a:r>
          </a:p>
          <a:p>
            <a:r>
              <a:rPr lang="bs-Latn-BA" sz="1800" dirty="0">
                <a:solidFill>
                  <a:srgbClr val="000000"/>
                </a:solidFill>
                <a:latin typeface="+mj-lt"/>
              </a:rPr>
              <a:t>Provjera nedostajućih vrijednosti</a:t>
            </a:r>
          </a:p>
          <a:p>
            <a:r>
              <a:rPr lang="it-IT" sz="1800" dirty="0">
                <a:solidFill>
                  <a:srgbClr val="000000"/>
                </a:solidFill>
                <a:latin typeface="+mj-lt"/>
              </a:rPr>
              <a:t>Potvrda da su svi podaci potpuni</a:t>
            </a:r>
          </a:p>
          <a:p>
            <a:pPr marL="0" indent="0">
              <a:buNone/>
            </a:pPr>
            <a:endParaRPr lang="bs-Latn-BA" sz="1800" b="1" dirty="0">
              <a:solidFill>
                <a:srgbClr val="000000"/>
              </a:solidFill>
              <a:latin typeface="+mj-lt"/>
            </a:endParaRPr>
          </a:p>
          <a:p>
            <a:pPr marL="0" indent="0">
              <a:buNone/>
            </a:pPr>
            <a:endParaRPr lang="bs-Latn-BA" sz="1800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A9D766-DF6E-4BEF-BECF-6D4A3422CA89}"/>
              </a:ext>
            </a:extLst>
          </p:cNvPr>
          <p:cNvSpPr/>
          <p:nvPr/>
        </p:nvSpPr>
        <p:spPr>
          <a:xfrm>
            <a:off x="0" y="0"/>
            <a:ext cx="12192000" cy="1690688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bs-Latn-BA" sz="4800" b="1" dirty="0">
                <a:solidFill>
                  <a:schemeClr val="bg1"/>
                </a:solidFill>
              </a:rPr>
              <a:t>02. Izdvajanje bioinformatičkih značajki</a:t>
            </a:r>
          </a:p>
        </p:txBody>
      </p:sp>
    </p:spTree>
    <p:extLst>
      <p:ext uri="{BB962C8B-B14F-4D97-AF65-F5344CB8AC3E}">
        <p14:creationId xmlns:p14="http://schemas.microsoft.com/office/powerpoint/2010/main" val="3460282337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D268A2E-C912-4EF7-9FB9-59498AA5C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bs-Latn-B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1233D-813E-424B-9283-191BBF6486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52519" y="2055812"/>
            <a:ext cx="4231056" cy="44370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bs-Latn-BA" sz="1600" b="1" dirty="0">
                <a:solidFill>
                  <a:srgbClr val="000000"/>
                </a:solidFill>
                <a:latin typeface="+mj-lt"/>
              </a:rPr>
              <a:t>4. Izračun bioinformatičkih značajki</a:t>
            </a:r>
          </a:p>
          <a:p>
            <a:r>
              <a:rPr lang="bs-Latn-BA" sz="1600" dirty="0">
                <a:solidFill>
                  <a:srgbClr val="000000"/>
                </a:solidFill>
                <a:latin typeface="+mj-lt"/>
              </a:rPr>
              <a:t>Za svaku peptidnu sekvencu izračunate su sljedeće značajke:</a:t>
            </a:r>
          </a:p>
          <a:p>
            <a:pPr lvl="1"/>
            <a:r>
              <a:rPr lang="bs-Latn-BA" sz="1600" dirty="0">
                <a:solidFill>
                  <a:srgbClr val="000000"/>
                </a:solidFill>
                <a:latin typeface="+mj-lt"/>
              </a:rPr>
              <a:t>duljina sekvence,</a:t>
            </a:r>
          </a:p>
          <a:p>
            <a:pPr lvl="1"/>
            <a:r>
              <a:rPr lang="bs-Latn-BA" sz="1600" dirty="0">
                <a:solidFill>
                  <a:srgbClr val="000000"/>
                </a:solidFill>
                <a:latin typeface="+mj-lt"/>
              </a:rPr>
              <a:t>neto naboj,</a:t>
            </a:r>
          </a:p>
          <a:p>
            <a:pPr lvl="1"/>
            <a:r>
              <a:rPr lang="bs-Latn-BA" sz="1600" dirty="0">
                <a:solidFill>
                  <a:srgbClr val="000000"/>
                </a:solidFill>
                <a:latin typeface="+mj-lt"/>
              </a:rPr>
              <a:t>prosječna hidrofobnost,</a:t>
            </a:r>
          </a:p>
          <a:p>
            <a:pPr lvl="1"/>
            <a:r>
              <a:rPr lang="bs-Latn-BA" sz="1600" dirty="0">
                <a:solidFill>
                  <a:srgbClr val="000000"/>
                </a:solidFill>
                <a:latin typeface="+mj-lt"/>
              </a:rPr>
              <a:t>aminokiselinski sastav (AAC).</a:t>
            </a:r>
          </a:p>
          <a:p>
            <a:r>
              <a:rPr lang="bs-Latn-BA" sz="1600" dirty="0">
                <a:solidFill>
                  <a:srgbClr val="000000"/>
                </a:solidFill>
                <a:latin typeface="+mj-lt"/>
              </a:rPr>
              <a:t>AAC predstavlja udio svake od 20 standardnih aminokiselina u pojedinoj peptidnoj sekvenci. Na taj način svaka sekvenca pretvorena je iz tekstualnog zapisa u numerički oblik koji modeli strojnog učenja mogu koristiti za učenje i klasifikaciju peptida.</a:t>
            </a:r>
          </a:p>
          <a:p>
            <a:pPr marL="0" indent="0">
              <a:buNone/>
            </a:pPr>
            <a:endParaRPr lang="bs-Latn-BA" sz="1600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A9D766-DF6E-4BEF-BECF-6D4A3422CA89}"/>
              </a:ext>
            </a:extLst>
          </p:cNvPr>
          <p:cNvSpPr/>
          <p:nvPr/>
        </p:nvSpPr>
        <p:spPr>
          <a:xfrm>
            <a:off x="0" y="0"/>
            <a:ext cx="12192000" cy="1690688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bs-Latn-BA" sz="4800" b="1" dirty="0">
                <a:solidFill>
                  <a:schemeClr val="bg1"/>
                </a:solidFill>
              </a:rPr>
              <a:t>02. Izdvajanje bioinformatičkih značajki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AB0050-DB8D-4291-A621-D248598536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5197" y="2514595"/>
            <a:ext cx="7144285" cy="2578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168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D268A2E-C912-4EF7-9FB9-59498AA5C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bs-Latn-B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1233D-813E-424B-9283-191BBF6486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52518" y="2055813"/>
            <a:ext cx="5743482" cy="428711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bs-Latn-BA" sz="1800" b="1" dirty="0">
                <a:solidFill>
                  <a:srgbClr val="000000"/>
                </a:solidFill>
                <a:latin typeface="+mj-lt"/>
              </a:rPr>
              <a:t>5. Provjera rezultata</a:t>
            </a:r>
            <a:endParaRPr lang="bs-Latn-BA" sz="1800" dirty="0">
              <a:solidFill>
                <a:srgbClr val="000000"/>
              </a:solidFill>
              <a:latin typeface="+mj-lt"/>
            </a:endParaRPr>
          </a:p>
          <a:p>
            <a:r>
              <a:rPr lang="bs-Latn-BA" sz="1800" dirty="0">
                <a:solidFill>
                  <a:srgbClr val="000000"/>
                </a:solidFill>
                <a:latin typeface="+mj-lt"/>
              </a:rPr>
              <a:t>Utvrđeno je da skup sadrži 3344 retka (</a:t>
            </a:r>
            <a:r>
              <a:rPr lang="pl-PL" sz="1800" dirty="0">
                <a:solidFill>
                  <a:srgbClr val="000000"/>
                </a:solidFill>
                <a:latin typeface="+mj-lt"/>
              </a:rPr>
              <a:t>broj peptida u skupu podataka)</a:t>
            </a:r>
            <a:r>
              <a:rPr lang="bs-Latn-BA" sz="1800" dirty="0">
                <a:solidFill>
                  <a:srgbClr val="000000"/>
                </a:solidFill>
                <a:latin typeface="+mj-lt"/>
              </a:rPr>
              <a:t> i 26 stupaca(</a:t>
            </a:r>
            <a:r>
              <a:rPr lang="pl-PL" sz="1800" dirty="0">
                <a:solidFill>
                  <a:srgbClr val="000000"/>
                </a:solidFill>
                <a:latin typeface="+mj-lt"/>
              </a:rPr>
              <a:t>broj značajki (atributa) za svaki peptid)</a:t>
            </a:r>
            <a:r>
              <a:rPr lang="bs-Latn-BA" sz="1800" dirty="0">
                <a:solidFill>
                  <a:srgbClr val="000000"/>
                </a:solidFill>
                <a:latin typeface="+mj-lt"/>
              </a:rPr>
              <a:t>. Broj redaka ostao je nepromijenjen jer tijekom obrade nije izgubljena nijedna peptidna sekvenca, dok je broj stupaca povećan zbog dodavanja novih bioinformatičkih značajki.</a:t>
            </a:r>
          </a:p>
          <a:p>
            <a:pPr marL="0" indent="0">
              <a:buNone/>
            </a:pPr>
            <a:r>
              <a:rPr lang="bs-Latn-BA" sz="1800" b="1" dirty="0">
                <a:solidFill>
                  <a:srgbClr val="000000"/>
                </a:solidFill>
                <a:latin typeface="+mj-lt"/>
              </a:rPr>
              <a:t>6. Spremanje značajki</a:t>
            </a:r>
          </a:p>
          <a:p>
            <a:r>
              <a:rPr lang="bs-Latn-BA" sz="1800" dirty="0">
                <a:solidFill>
                  <a:srgbClr val="000000"/>
                </a:solidFill>
                <a:latin typeface="+mj-lt"/>
              </a:rPr>
              <a:t>U datoteku features.csv koja predstavlja ulaz za sljedeću fazu projekta, odnosno treniranje i evaluaciju modela Random Forest i Support Vector Machine (SVM)).</a:t>
            </a:r>
          </a:p>
          <a:p>
            <a:pPr marL="0" indent="0">
              <a:buNone/>
            </a:pPr>
            <a:endParaRPr lang="bs-Latn-BA" sz="1800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A9D766-DF6E-4BEF-BECF-6D4A3422CA89}"/>
              </a:ext>
            </a:extLst>
          </p:cNvPr>
          <p:cNvSpPr/>
          <p:nvPr/>
        </p:nvSpPr>
        <p:spPr>
          <a:xfrm>
            <a:off x="0" y="0"/>
            <a:ext cx="12192000" cy="1690688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bs-Latn-BA" sz="4800" b="1" dirty="0">
                <a:solidFill>
                  <a:schemeClr val="bg1"/>
                </a:solidFill>
              </a:rPr>
              <a:t>02. Izdvajanje bioinformatičkih značajki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F44BF3B-D7D0-4B4A-B865-5CB1DFC1AB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8850" y="2977295"/>
            <a:ext cx="5883150" cy="118120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8A95AC-A200-4693-9AAE-2AF275577E02}"/>
              </a:ext>
            </a:extLst>
          </p:cNvPr>
          <p:cNvSpPr txBox="1"/>
          <p:nvPr/>
        </p:nvSpPr>
        <p:spPr>
          <a:xfrm>
            <a:off x="10648334" y="6457890"/>
            <a:ext cx="23302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s-Latn-BA" sz="1000" dirty="0">
                <a:solidFill>
                  <a:schemeClr val="bg1">
                    <a:lumMod val="95000"/>
                  </a:schemeClr>
                </a:solidFill>
              </a:rPr>
              <a:t>Fi čers-znacajki</a:t>
            </a:r>
            <a:br>
              <a:rPr lang="bs-Latn-BA" sz="10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bs-Latn-BA" sz="1000" dirty="0">
                <a:solidFill>
                  <a:schemeClr val="bg1">
                    <a:lumMod val="95000"/>
                  </a:schemeClr>
                </a:solidFill>
              </a:rPr>
              <a:t>Rendom – es vi em</a:t>
            </a:r>
          </a:p>
        </p:txBody>
      </p:sp>
    </p:spTree>
    <p:extLst>
      <p:ext uri="{BB962C8B-B14F-4D97-AF65-F5344CB8AC3E}">
        <p14:creationId xmlns:p14="http://schemas.microsoft.com/office/powerpoint/2010/main" val="3358254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D268A2E-C912-4EF7-9FB9-59498AA5C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bs-Latn-B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1233D-813E-424B-9283-191BBF6486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52519" y="2055812"/>
            <a:ext cx="5230134" cy="39861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bs-Latn-BA" sz="1800" b="1" dirty="0">
                <a:solidFill>
                  <a:srgbClr val="000000"/>
                </a:solidFill>
                <a:latin typeface="+mj-lt"/>
              </a:rPr>
              <a:t>7. Statistika značajki</a:t>
            </a:r>
          </a:p>
          <a:p>
            <a:r>
              <a:rPr lang="bs-Latn-BA" sz="1800" dirty="0">
                <a:solidFill>
                  <a:srgbClr val="000000"/>
                </a:solidFill>
                <a:latin typeface="+mj-lt"/>
              </a:rPr>
              <a:t>Nakon izračuna bioinformatičkih značajki provedena je analiza njihovih osnovnih statističkih pokazatelja. </a:t>
            </a:r>
          </a:p>
          <a:p>
            <a:r>
              <a:rPr lang="bs-Latn-BA" sz="1800" dirty="0">
                <a:solidFill>
                  <a:srgbClr val="000000"/>
                </a:solidFill>
                <a:latin typeface="+mj-lt"/>
              </a:rPr>
              <a:t>Prosječna duljina peptidne sekvence iznosi 26,53 aminokiselina, prosječni neto naboj 2,57, dok prosječna hidrofobnost iznosi -0,225. </a:t>
            </a:r>
          </a:p>
          <a:p>
            <a:r>
              <a:rPr lang="bs-Latn-BA" sz="1800" dirty="0">
                <a:solidFill>
                  <a:srgbClr val="000000"/>
                </a:solidFill>
                <a:latin typeface="+mj-lt"/>
              </a:rPr>
              <a:t>Dobiveni rezultati pokazuju da peptidi imaju različita fizikalno-kemijska svojstva, što modelima strojnog učenja omogućuje lakše razlikovanje antimikrobnih i neantimikrobnih peptida.</a:t>
            </a:r>
          </a:p>
          <a:p>
            <a:pPr marL="0" indent="0">
              <a:buNone/>
            </a:pPr>
            <a:endParaRPr lang="bs-Latn-BA" sz="1800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A9D766-DF6E-4BEF-BECF-6D4A3422CA89}"/>
              </a:ext>
            </a:extLst>
          </p:cNvPr>
          <p:cNvSpPr/>
          <p:nvPr/>
        </p:nvSpPr>
        <p:spPr>
          <a:xfrm>
            <a:off x="0" y="0"/>
            <a:ext cx="12192000" cy="1690688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bs-Latn-BA" sz="4800" b="1" dirty="0">
                <a:solidFill>
                  <a:schemeClr val="bg1"/>
                </a:solidFill>
              </a:rPr>
              <a:t>02. Izdvajanje bioinformatičkih značajki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37CE17-B483-41D1-A8E4-622DB62776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3271" y="2338234"/>
            <a:ext cx="5502117" cy="3246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751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D268A2E-C912-4EF7-9FB9-59498AA5C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bs-Latn-B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1233D-813E-424B-9283-191BBF6486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52519" y="2055812"/>
            <a:ext cx="5446397" cy="480218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it-IT" sz="1800" b="1" dirty="0">
                <a:solidFill>
                  <a:srgbClr val="000000"/>
                </a:solidFill>
                <a:latin typeface="+mj-lt"/>
              </a:rPr>
              <a:t>8. Usporedba AMP i non-AMP peptida</a:t>
            </a:r>
            <a:endParaRPr lang="bs-Latn-BA" sz="1800" b="1" dirty="0">
              <a:solidFill>
                <a:srgbClr val="000000"/>
              </a:solidFill>
              <a:latin typeface="+mj-lt"/>
            </a:endParaRPr>
          </a:p>
          <a:p>
            <a:r>
              <a:rPr lang="bs-Latn-BA" sz="1800" dirty="0">
                <a:solidFill>
                  <a:srgbClr val="000000"/>
                </a:solidFill>
                <a:latin typeface="+mj-lt"/>
              </a:rPr>
              <a:t>Provedena je usporedba prosječnih vrijednosti bioinformatičkih značajki između antimikrobnih (AMP) i neantimikrobnih (non-AMP) peptida. </a:t>
            </a:r>
          </a:p>
          <a:p>
            <a:r>
              <a:rPr lang="bs-Latn-BA" sz="1800" dirty="0">
                <a:solidFill>
                  <a:srgbClr val="000000"/>
                </a:solidFill>
                <a:latin typeface="+mj-lt"/>
              </a:rPr>
              <a:t>Rezultati su pokazali da su AMP peptidi u prosjeku kraći te imaju prosječnu duljinu od 21,49 aminokiselina, dok non-AMP peptidi imaju prosječnu duljinu od 31,56 aminokiselina.</a:t>
            </a:r>
          </a:p>
          <a:p>
            <a:r>
              <a:rPr lang="bs-Latn-BA" sz="1800" dirty="0">
                <a:solidFill>
                  <a:srgbClr val="000000"/>
                </a:solidFill>
                <a:latin typeface="+mj-lt"/>
              </a:rPr>
              <a:t>Najveća razlika uočena je kod neto naboja</a:t>
            </a:r>
          </a:p>
          <a:p>
            <a:r>
              <a:rPr lang="bs-Latn-BA" sz="1800" dirty="0">
                <a:solidFill>
                  <a:srgbClr val="000000"/>
                </a:solidFill>
                <a:latin typeface="+mj-lt"/>
              </a:rPr>
              <a:t>Dobiveni rezultati pokazuju da su antimikrobni peptidi znatno pozitivnije nabijeni od neantimikrobnih peptida, što predstavlja jedno od njihovih karakterističnih fizikalno-kemijskih svojstava i važnu značajku za njihovo razlikovanje.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A9D766-DF6E-4BEF-BECF-6D4A3422CA89}"/>
              </a:ext>
            </a:extLst>
          </p:cNvPr>
          <p:cNvSpPr/>
          <p:nvPr/>
        </p:nvSpPr>
        <p:spPr>
          <a:xfrm>
            <a:off x="0" y="0"/>
            <a:ext cx="12192000" cy="1690688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bs-Latn-BA" sz="4800" b="1" dirty="0">
                <a:solidFill>
                  <a:schemeClr val="bg1"/>
                </a:solidFill>
              </a:rPr>
              <a:t>02. Izdvajanje bioinformatičkih značajki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B4DABE-A78C-43BE-B0DC-41A9B63C00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876097"/>
            <a:ext cx="5875529" cy="18823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2B21C58-A1B7-4156-ABEB-24C6E9F2F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8219" y="3866555"/>
            <a:ext cx="4404102" cy="2836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168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D268A2E-C912-4EF7-9FB9-59498AA5C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bs-Latn-B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1233D-813E-424B-9283-191BBF6486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52518" y="2055812"/>
            <a:ext cx="11291614" cy="407876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bs-Latn-BA" sz="1800" dirty="0">
                <a:solidFill>
                  <a:srgbClr val="000000"/>
                </a:solidFill>
                <a:latin typeface="+mj-lt"/>
              </a:rPr>
              <a:t>Cilj: Razviti modele strojnog učenja za klasifikaciju AMP i non-AMP peptida.</a:t>
            </a:r>
          </a:p>
          <a:p>
            <a:pPr marL="0" indent="0">
              <a:buNone/>
            </a:pPr>
            <a:endParaRPr lang="bs-Latn-BA" sz="1800" dirty="0">
              <a:solidFill>
                <a:srgbClr val="000000"/>
              </a:solidFill>
              <a:latin typeface="+mj-lt"/>
            </a:endParaRPr>
          </a:p>
          <a:p>
            <a:r>
              <a:rPr lang="bs-Latn-BA" sz="1800" dirty="0">
                <a:solidFill>
                  <a:srgbClr val="000000"/>
                </a:solidFill>
                <a:latin typeface="+mj-lt"/>
              </a:rPr>
              <a:t>Učitana je datoteka </a:t>
            </a:r>
            <a:r>
              <a:rPr lang="bs-Latn-BA" sz="1800" i="1" dirty="0">
                <a:solidFill>
                  <a:srgbClr val="000000"/>
                </a:solidFill>
                <a:latin typeface="+mj-lt"/>
              </a:rPr>
              <a:t>features.csv </a:t>
            </a:r>
            <a:r>
              <a:rPr lang="bs-Latn-BA" sz="1800" dirty="0">
                <a:solidFill>
                  <a:srgbClr val="000000"/>
                </a:solidFill>
                <a:latin typeface="+mj-lt"/>
              </a:rPr>
              <a:t>koja sadrži bioinformatičke značajke peptidnih sekvenci.</a:t>
            </a:r>
          </a:p>
          <a:p>
            <a:r>
              <a:rPr lang="bs-Latn-BA" sz="1800" dirty="0">
                <a:solidFill>
                  <a:srgbClr val="000000"/>
                </a:solidFill>
                <a:latin typeface="+mj-lt"/>
              </a:rPr>
              <a:t>Za treniranje modela korištene su značajke: duljina sekvence, neto naboj, hidrofobnost i aminokiselinski sastav (AAC).</a:t>
            </a:r>
          </a:p>
          <a:p>
            <a:r>
              <a:rPr lang="bs-Latn-BA" sz="1800" dirty="0">
                <a:solidFill>
                  <a:srgbClr val="000000"/>
                </a:solidFill>
                <a:latin typeface="+mj-lt"/>
              </a:rPr>
              <a:t>Stupci ID i SEQUENCE nisu korišteni jer služe isključivo za identifikaciju peptida.</a:t>
            </a:r>
          </a:p>
          <a:p>
            <a:r>
              <a:rPr lang="pl-PL" sz="1800" dirty="0">
                <a:solidFill>
                  <a:srgbClr val="000000"/>
                </a:solidFill>
                <a:latin typeface="+mj-lt"/>
              </a:rPr>
              <a:t>Podaci su podijeljeni na trening (80 %) i testni skup (20 %).</a:t>
            </a:r>
          </a:p>
          <a:p>
            <a:r>
              <a:rPr lang="bs-Latn-BA" sz="1800" dirty="0">
                <a:solidFill>
                  <a:srgbClr val="000000"/>
                </a:solidFill>
                <a:latin typeface="+mj-lt"/>
              </a:rPr>
              <a:t>Za SVM model provedena je standardizacija značajki primjenom algoritma StandardScale.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A9D766-DF6E-4BEF-BECF-6D4A3422CA89}"/>
              </a:ext>
            </a:extLst>
          </p:cNvPr>
          <p:cNvSpPr/>
          <p:nvPr/>
        </p:nvSpPr>
        <p:spPr>
          <a:xfrm>
            <a:off x="0" y="0"/>
            <a:ext cx="12192000" cy="1690688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bs-Latn-BA" sz="4800" b="1" dirty="0">
                <a:solidFill>
                  <a:schemeClr val="bg1"/>
                </a:solidFill>
              </a:rPr>
              <a:t>03. MODELIRANJE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DD4C4E-201E-46CF-BFF0-B778AAD67EDB}"/>
              </a:ext>
            </a:extLst>
          </p:cNvPr>
          <p:cNvSpPr txBox="1"/>
          <p:nvPr/>
        </p:nvSpPr>
        <p:spPr>
          <a:xfrm>
            <a:off x="10667999" y="6567948"/>
            <a:ext cx="23302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s-Latn-BA" sz="1000" dirty="0">
                <a:solidFill>
                  <a:schemeClr val="bg1">
                    <a:lumMod val="95000"/>
                  </a:schemeClr>
                </a:solidFill>
              </a:rPr>
              <a:t>Standard -skjeler</a:t>
            </a:r>
          </a:p>
        </p:txBody>
      </p:sp>
    </p:spTree>
    <p:extLst>
      <p:ext uri="{BB962C8B-B14F-4D97-AF65-F5344CB8AC3E}">
        <p14:creationId xmlns:p14="http://schemas.microsoft.com/office/powerpoint/2010/main" val="656824552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D268A2E-C912-4EF7-9FB9-59498AA5C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bs-Latn-B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1233D-813E-424B-9283-191BBF6486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8158" y="1875964"/>
            <a:ext cx="6161067" cy="480218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bs-Latn-BA" sz="1800" dirty="0">
                <a:solidFill>
                  <a:srgbClr val="000000"/>
                </a:solidFill>
                <a:latin typeface="+mj-lt"/>
              </a:rPr>
              <a:t>Korištena su dva klasifikacijska modela:</a:t>
            </a:r>
          </a:p>
          <a:p>
            <a:pPr marL="0" indent="0">
              <a:buNone/>
            </a:pPr>
            <a:r>
              <a:rPr lang="bs-Latn-BA" sz="1800" b="1" dirty="0">
                <a:solidFill>
                  <a:srgbClr val="000000"/>
                </a:solidFill>
                <a:latin typeface="+mj-lt"/>
              </a:rPr>
              <a:t>Random Forest</a:t>
            </a:r>
          </a:p>
          <a:p>
            <a:r>
              <a:rPr lang="bs-Latn-BA" sz="1800" dirty="0">
                <a:solidFill>
                  <a:srgbClr val="000000"/>
                </a:solidFill>
                <a:latin typeface="+mj-lt"/>
              </a:rPr>
              <a:t>100 stabala odlučivanja</a:t>
            </a:r>
          </a:p>
          <a:p>
            <a:r>
              <a:rPr lang="bs-Latn-BA" sz="1800" dirty="0">
                <a:solidFill>
                  <a:srgbClr val="000000"/>
                </a:solidFill>
                <a:latin typeface="+mj-lt"/>
              </a:rPr>
              <a:t>Treniran na trening skupu</a:t>
            </a:r>
          </a:p>
          <a:p>
            <a:r>
              <a:rPr lang="bs-Latn-BA" sz="1800" dirty="0">
                <a:solidFill>
                  <a:srgbClr val="000000"/>
                </a:solidFill>
                <a:latin typeface="+mj-lt"/>
              </a:rPr>
              <a:t>Predviđanje na testnom skupu</a:t>
            </a:r>
          </a:p>
          <a:p>
            <a:pPr marL="0" indent="0">
              <a:buNone/>
            </a:pPr>
            <a:r>
              <a:rPr lang="bs-Latn-BA" sz="1800" b="1" dirty="0">
                <a:solidFill>
                  <a:srgbClr val="000000"/>
                </a:solidFill>
                <a:latin typeface="+mj-lt"/>
              </a:rPr>
              <a:t>Support Vector Machine (SVM)</a:t>
            </a:r>
          </a:p>
          <a:p>
            <a:r>
              <a:rPr lang="bs-Latn-BA" sz="1800" dirty="0">
                <a:solidFill>
                  <a:srgbClr val="000000"/>
                </a:solidFill>
                <a:latin typeface="+mj-lt"/>
              </a:rPr>
              <a:t>RBF jezgra</a:t>
            </a:r>
          </a:p>
          <a:p>
            <a:r>
              <a:rPr lang="bs-Latn-BA" sz="1800" dirty="0">
                <a:solidFill>
                  <a:srgbClr val="000000"/>
                </a:solidFill>
                <a:latin typeface="+mj-lt"/>
              </a:rPr>
              <a:t>Standardizirane značajke</a:t>
            </a:r>
          </a:p>
          <a:p>
            <a:r>
              <a:rPr lang="bs-Latn-BA" sz="1800" dirty="0">
                <a:solidFill>
                  <a:srgbClr val="000000"/>
                </a:solidFill>
                <a:latin typeface="+mj-lt"/>
              </a:rPr>
              <a:t>Predviđanje na testnom skupu</a:t>
            </a:r>
          </a:p>
          <a:p>
            <a:pPr marL="0" indent="0">
              <a:buNone/>
            </a:pPr>
            <a:endParaRPr lang="pl-PL" sz="1800" dirty="0">
              <a:solidFill>
                <a:srgbClr val="000000"/>
              </a:solidFill>
              <a:latin typeface="+mj-lt"/>
            </a:endParaRPr>
          </a:p>
          <a:p>
            <a:pPr marL="0" indent="0">
              <a:buNone/>
            </a:pPr>
            <a:r>
              <a:rPr lang="bs-Latn-BA" sz="1800" dirty="0">
                <a:solidFill>
                  <a:srgbClr val="000000"/>
                </a:solidFill>
                <a:latin typeface="+mj-lt"/>
              </a:rPr>
              <a:t>Oba modela ostvarila su vrlo visoku uspješnost. Random Forest postigao je najbolje ukupne rezultate te je odabran kao konačni model.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A9D766-DF6E-4BEF-BECF-6D4A3422CA89}"/>
              </a:ext>
            </a:extLst>
          </p:cNvPr>
          <p:cNvSpPr/>
          <p:nvPr/>
        </p:nvSpPr>
        <p:spPr>
          <a:xfrm>
            <a:off x="0" y="0"/>
            <a:ext cx="12192000" cy="1690688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bs-Latn-BA" sz="4800" b="1" dirty="0">
                <a:solidFill>
                  <a:schemeClr val="bg1"/>
                </a:solidFill>
              </a:rPr>
              <a:t>03. MODELIRANJE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7E6D71-1448-460F-AADF-6EF696AB49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9646" y="1801093"/>
            <a:ext cx="5285889" cy="155910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88277F9-7F20-44EC-8966-A8B9FB71A6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7689" y="3429000"/>
            <a:ext cx="4967846" cy="324915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CF8F347-FE80-4649-9F7C-54A5D50994BD}"/>
              </a:ext>
            </a:extLst>
          </p:cNvPr>
          <p:cNvSpPr/>
          <p:nvPr/>
        </p:nvSpPr>
        <p:spPr>
          <a:xfrm>
            <a:off x="6729646" y="2229853"/>
            <a:ext cx="5054196" cy="350791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bs-Latn-BA"/>
          </a:p>
        </p:txBody>
      </p:sp>
    </p:spTree>
    <p:extLst>
      <p:ext uri="{BB962C8B-B14F-4D97-AF65-F5344CB8AC3E}">
        <p14:creationId xmlns:p14="http://schemas.microsoft.com/office/powerpoint/2010/main" val="1066427450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D268A2E-C912-4EF7-9FB9-59498AA5C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bs-Latn-B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1233D-813E-424B-9283-191BBF6486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52518" y="2055813"/>
            <a:ext cx="9609629" cy="342162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bs-Latn-BA" sz="1800" dirty="0">
                <a:solidFill>
                  <a:srgbClr val="000000"/>
                </a:solidFill>
                <a:latin typeface="+mj-lt"/>
              </a:rPr>
              <a:t>Cilj: Detaljno procijeniti uspješnost prethodno treniranih modela.</a:t>
            </a:r>
          </a:p>
          <a:p>
            <a:pPr marL="0" indent="0">
              <a:buNone/>
            </a:pPr>
            <a:endParaRPr lang="bs-Latn-BA" sz="1800" dirty="0">
              <a:solidFill>
                <a:srgbClr val="000000"/>
              </a:solidFill>
              <a:latin typeface="+mj-lt"/>
            </a:endParaRPr>
          </a:p>
          <a:p>
            <a:r>
              <a:rPr lang="bs-Latn-BA" sz="1800" dirty="0">
                <a:solidFill>
                  <a:srgbClr val="000000"/>
                </a:solidFill>
                <a:latin typeface="+mj-lt"/>
              </a:rPr>
              <a:t>Učitana je datoteka </a:t>
            </a:r>
            <a:r>
              <a:rPr lang="bs-Latn-BA" sz="1800" i="1" dirty="0">
                <a:solidFill>
                  <a:srgbClr val="000000"/>
                </a:solidFill>
                <a:latin typeface="+mj-lt"/>
              </a:rPr>
              <a:t>features.csv</a:t>
            </a:r>
            <a:r>
              <a:rPr lang="bs-Latn-BA" sz="1800" dirty="0">
                <a:solidFill>
                  <a:srgbClr val="000000"/>
                </a:solidFill>
                <a:latin typeface="+mj-lt"/>
              </a:rPr>
              <a:t>.</a:t>
            </a:r>
          </a:p>
          <a:p>
            <a:r>
              <a:rPr lang="bs-Latn-BA" sz="1800" dirty="0">
                <a:solidFill>
                  <a:srgbClr val="000000"/>
                </a:solidFill>
                <a:latin typeface="+mj-lt"/>
              </a:rPr>
              <a:t>Podaci su pripremljeni na isti način kao u fazi modeliranja.</a:t>
            </a:r>
          </a:p>
          <a:p>
            <a:r>
              <a:rPr lang="bs-Latn-BA" sz="1800" dirty="0">
                <a:solidFill>
                  <a:srgbClr val="000000"/>
                </a:solidFill>
                <a:latin typeface="+mj-lt"/>
              </a:rPr>
              <a:t>Ponovno su trenirani Random Forest i SVM modeli radi usporedive evaluacije.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A9D766-DF6E-4BEF-BECF-6D4A3422CA89}"/>
              </a:ext>
            </a:extLst>
          </p:cNvPr>
          <p:cNvSpPr/>
          <p:nvPr/>
        </p:nvSpPr>
        <p:spPr>
          <a:xfrm>
            <a:off x="0" y="0"/>
            <a:ext cx="12192000" cy="1690688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bs-Latn-BA" sz="4800" b="1" dirty="0">
                <a:solidFill>
                  <a:schemeClr val="bg1"/>
                </a:solidFill>
              </a:rPr>
              <a:t>04. EVALUACIJA MODELA</a:t>
            </a:r>
          </a:p>
        </p:txBody>
      </p:sp>
    </p:spTree>
    <p:extLst>
      <p:ext uri="{BB962C8B-B14F-4D97-AF65-F5344CB8AC3E}">
        <p14:creationId xmlns:p14="http://schemas.microsoft.com/office/powerpoint/2010/main" val="474903771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1920734-DDC0-42BD-88A0-2DAA3A0BA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bs-Latn-B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1233D-813E-424B-9283-191BBF6486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257800" cy="245140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bs-Latn-BA" sz="1400" b="1" dirty="0">
                <a:latin typeface="+mj-lt"/>
              </a:rPr>
              <a:t>Confusion Matrix (Matrica zabune) za Random Forest</a:t>
            </a:r>
          </a:p>
          <a:p>
            <a:r>
              <a:rPr lang="bs-Latn-BA" sz="1400" dirty="0">
                <a:latin typeface="+mj-lt"/>
              </a:rPr>
              <a:t>Matrica prikazuje broj ispravno i pogrešno klasificiranih </a:t>
            </a:r>
            <a:r>
              <a:rPr lang="bs-Latn-BA" sz="1400" dirty="0">
                <a:solidFill>
                  <a:srgbClr val="000000"/>
                </a:solidFill>
                <a:latin typeface="+mj-lt"/>
              </a:rPr>
              <a:t> antimikrobnih (AMP) i neantimikrobnih (non-AMP) </a:t>
            </a:r>
            <a:r>
              <a:rPr lang="bs-Latn-BA" sz="1400" dirty="0">
                <a:latin typeface="+mj-lt"/>
              </a:rPr>
              <a:t>te omogućuje detaljniju analizu uspješnosti klasifikacije.</a:t>
            </a:r>
          </a:p>
          <a:p>
            <a:r>
              <a:rPr lang="bs-Latn-BA" sz="1400" dirty="0">
                <a:latin typeface="+mj-lt"/>
              </a:rPr>
              <a:t>Rezultati pokazuju da je model 309 non-AMP peptida ispravno klasificirao kao non-AMP, a 314 AMP peptida kao AMP. Pogrešno je klasificirano 26 non-AMP peptida kao AMP te 20 AMP peptida kao non-AMP.</a:t>
            </a:r>
          </a:p>
          <a:p>
            <a:r>
              <a:rPr lang="bs-Latn-BA" sz="1400" dirty="0">
                <a:latin typeface="+mj-lt"/>
              </a:rPr>
              <a:t>Dobivena matrica pokazuje da je Random Forest ostvario vrlo dobre rezultate, s malim brojem pogrešnih klasifikacija u obje klase.</a:t>
            </a:r>
          </a:p>
          <a:p>
            <a:pPr marL="0" indent="0">
              <a:buNone/>
            </a:pPr>
            <a:endParaRPr lang="bs-Latn-BA" sz="1400" dirty="0">
              <a:latin typeface="+mj-lt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A1D8FB0-84BE-450F-9CCA-66F4F50A7B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6"/>
            <a:ext cx="5538019" cy="226088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bs-Latn-BA" sz="1400" b="1" dirty="0">
                <a:solidFill>
                  <a:srgbClr val="000000"/>
                </a:solidFill>
                <a:latin typeface="+mj-lt"/>
              </a:rPr>
              <a:t> </a:t>
            </a:r>
            <a:r>
              <a:rPr lang="bs-Latn-BA" sz="1400" b="1" dirty="0">
                <a:latin typeface="+mj-lt"/>
              </a:rPr>
              <a:t>Confusion Matrix (Matrica zabune) za </a:t>
            </a:r>
            <a:r>
              <a:rPr lang="bs-Latn-BA" sz="1400" b="1" dirty="0">
                <a:solidFill>
                  <a:srgbClr val="000000"/>
                </a:solidFill>
                <a:latin typeface="+mj-lt"/>
              </a:rPr>
              <a:t>SVM</a:t>
            </a:r>
          </a:p>
          <a:p>
            <a:r>
              <a:rPr lang="bs-Latn-BA" sz="1400" dirty="0">
                <a:solidFill>
                  <a:srgbClr val="000000"/>
                </a:solidFill>
                <a:latin typeface="+mj-lt"/>
              </a:rPr>
              <a:t>Rezultati pokazuju da je model 312 non-AMP peptida ispravno klasificirao kao non-AMP, a 310 AMP peptida kao AMP. Pogrešno su klasificirana 23 non-AMP peptida kao AMP te 24 AMP peptida kao non-AMP.</a:t>
            </a:r>
          </a:p>
          <a:p>
            <a:r>
              <a:rPr lang="bs-Latn-BA" sz="1400" dirty="0">
                <a:solidFill>
                  <a:srgbClr val="000000"/>
                </a:solidFill>
                <a:latin typeface="+mj-lt"/>
              </a:rPr>
              <a:t>Dobiveni rezultati pokazuju da je SVM ostvario vrlo dobru uspješnost klasifikacije uz mali broj pogrešnih predviđanja. U usporedbi s Random Forest modelom imao je nešto manje pogrešaka pri klasifikaciji non-AMP peptida, ali nešto više pri klasifikaciji AMP peptida.</a:t>
            </a:r>
          </a:p>
          <a:p>
            <a:endParaRPr lang="bs-Latn-BA" sz="1600" dirty="0">
              <a:latin typeface="+mj-lt"/>
            </a:endParaRPr>
          </a:p>
          <a:p>
            <a:endParaRPr lang="bs-Latn-BA" sz="1600" dirty="0">
              <a:latin typeface="+mj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A9D766-DF6E-4BEF-BECF-6D4A3422CA89}"/>
              </a:ext>
            </a:extLst>
          </p:cNvPr>
          <p:cNvSpPr/>
          <p:nvPr/>
        </p:nvSpPr>
        <p:spPr>
          <a:xfrm>
            <a:off x="0" y="0"/>
            <a:ext cx="12192000" cy="1690688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bs-Latn-BA" sz="4800" b="1" dirty="0">
                <a:solidFill>
                  <a:schemeClr val="bg1"/>
                </a:solidFill>
              </a:rPr>
              <a:t>04. EVALUACIJA MODELA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B6B827-EB1E-4D40-ADDC-9E787351F7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2328" y="4483511"/>
            <a:ext cx="3140857" cy="226141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CB06269-2579-412C-9BD4-2C48E3BC5B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1846" y="4196225"/>
            <a:ext cx="3301730" cy="2548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890635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62BDF68-C137-421D-B69F-4CE9BB2EC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bs-Latn-B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1233D-813E-424B-9283-191BBF6486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266876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bs-Latn-BA" sz="1400" b="1" dirty="0">
                <a:solidFill>
                  <a:srgbClr val="000000"/>
                </a:solidFill>
                <a:latin typeface="+mj-lt"/>
              </a:rPr>
              <a:t>Klasifikacijski izvještaj– Random Forest</a:t>
            </a:r>
          </a:p>
          <a:p>
            <a:r>
              <a:rPr lang="bs-Latn-BA" sz="1400" dirty="0">
                <a:solidFill>
                  <a:srgbClr val="000000"/>
                </a:solidFill>
                <a:latin typeface="+mj-lt"/>
              </a:rPr>
              <a:t>Izvještaj sadrži četiri osnovne metrike uspješnosti: preciznost, osjetljivost, ukupna kvaliteta i broj stvarnih uzoraka klase u testnom skupu.</a:t>
            </a:r>
          </a:p>
          <a:p>
            <a:r>
              <a:rPr lang="bs-Latn-BA" sz="1400" dirty="0">
                <a:solidFill>
                  <a:srgbClr val="000000"/>
                </a:solidFill>
                <a:latin typeface="+mj-lt"/>
              </a:rPr>
              <a:t>Rezultati pokazuju da je model ostvario vrlo dobre performanse za obje klase. </a:t>
            </a:r>
          </a:p>
          <a:p>
            <a:r>
              <a:rPr lang="bs-Latn-BA" sz="1400" dirty="0">
                <a:solidFill>
                  <a:srgbClr val="000000"/>
                </a:solidFill>
                <a:latin typeface="+mj-lt"/>
              </a:rPr>
              <a:t>Ukupna točnost (Accuracy) modela iznosi 93 %.</a:t>
            </a:r>
          </a:p>
          <a:p>
            <a:r>
              <a:rPr lang="bs-Latn-BA" sz="1400" dirty="0">
                <a:solidFill>
                  <a:srgbClr val="000000"/>
                </a:solidFill>
                <a:latin typeface="+mj-lt"/>
              </a:rPr>
              <a:t>To pokazuje da model jednako dobro klasificira obje klase te postiže uravnotežene i pouzdane rezultate na testnom skupu.</a:t>
            </a:r>
          </a:p>
          <a:p>
            <a:endParaRPr lang="bs-Latn-BA" sz="1400" dirty="0">
              <a:solidFill>
                <a:srgbClr val="000000"/>
              </a:solidFill>
              <a:latin typeface="+mj-lt"/>
            </a:endParaRPr>
          </a:p>
          <a:p>
            <a:pPr marL="0" indent="0">
              <a:buNone/>
            </a:pPr>
            <a:endParaRPr lang="bs-Latn-BA" sz="1400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12EC404-76CB-4A87-968C-AAD4115E3B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248090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bs-Latn-BA" sz="1400" b="1" dirty="0">
                <a:solidFill>
                  <a:srgbClr val="000000"/>
                </a:solidFill>
                <a:latin typeface="+mj-lt"/>
              </a:rPr>
              <a:t>Klasifikacijski izvještaj– SVM</a:t>
            </a:r>
          </a:p>
          <a:p>
            <a:r>
              <a:rPr lang="bs-Latn-BA" sz="1400" dirty="0">
                <a:solidFill>
                  <a:srgbClr val="000000"/>
                </a:solidFill>
                <a:latin typeface="+mj-lt"/>
              </a:rPr>
              <a:t>Rezultati pokazuju da je model ostvario vrlo dobre performanse za obje klase. Za non-AMP peptide ostvareni su Precision = 0,93, Recall = 0,93 i F1-score = 0,93, dok su za AMP peptide također ostvareni Precision = 0,93, Recall = 0,93 i F1-score = 0,93.</a:t>
            </a:r>
          </a:p>
          <a:p>
            <a:r>
              <a:rPr lang="bs-Latn-BA" sz="1400" dirty="0">
                <a:solidFill>
                  <a:srgbClr val="000000"/>
                </a:solidFill>
                <a:latin typeface="+mj-lt"/>
              </a:rPr>
              <a:t>Ukupna točnost (Accuracy) modela iznosi 93 %, pri čemu su vrijednosti makro i ponderiranog prosjeka također 0,93. </a:t>
            </a:r>
          </a:p>
          <a:p>
            <a:r>
              <a:rPr lang="bs-Latn-BA" sz="1400" dirty="0">
                <a:solidFill>
                  <a:srgbClr val="000000"/>
                </a:solidFill>
                <a:latin typeface="+mj-lt"/>
              </a:rPr>
              <a:t>Dobiveni rezultati pokazuju da SVM model postiže uravnotežene i pouzdane rezultate u klasifikaciji antimikrobnih i neantimikrobnih peptida.</a:t>
            </a:r>
          </a:p>
          <a:p>
            <a:endParaRPr lang="bs-Latn-BA" sz="1400" dirty="0">
              <a:latin typeface="+mj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A9D766-DF6E-4BEF-BECF-6D4A3422CA89}"/>
              </a:ext>
            </a:extLst>
          </p:cNvPr>
          <p:cNvSpPr/>
          <p:nvPr/>
        </p:nvSpPr>
        <p:spPr>
          <a:xfrm>
            <a:off x="0" y="0"/>
            <a:ext cx="12192000" cy="1690688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bs-Latn-BA" sz="4800" b="1" dirty="0">
                <a:solidFill>
                  <a:schemeClr val="bg1"/>
                </a:solidFill>
              </a:rPr>
              <a:t>04. EVALUACIJA MODELA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F544D5-DE63-4D4F-A747-A39CA46EE4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181" y="4629326"/>
            <a:ext cx="4587638" cy="211092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A954E8A-8D8D-491A-AF24-7EB5FDB40B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2917" y="4494389"/>
            <a:ext cx="4663844" cy="2110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868599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D268A2E-C912-4EF7-9FB9-59498AA5C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bs-Latn-B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1233D-813E-424B-9283-191BBF6486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52519" y="2055812"/>
            <a:ext cx="5743482" cy="480218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bs-Latn-BA" sz="1800" b="1" dirty="0">
                <a:solidFill>
                  <a:srgbClr val="000000"/>
                </a:solidFill>
                <a:latin typeface="+mj-lt"/>
              </a:rPr>
              <a:t>Graf važnosti značajki</a:t>
            </a:r>
          </a:p>
          <a:p>
            <a:r>
              <a:rPr lang="bs-Latn-BA" sz="1800" dirty="0">
                <a:solidFill>
                  <a:srgbClr val="000000"/>
                </a:solidFill>
                <a:latin typeface="+mj-lt"/>
              </a:rPr>
              <a:t>Analizirana je važnost bioinformatičkih značajki.</a:t>
            </a:r>
          </a:p>
          <a:p>
            <a:r>
              <a:rPr lang="bs-Latn-BA" sz="1800" dirty="0">
                <a:solidFill>
                  <a:srgbClr val="000000"/>
                </a:solidFill>
                <a:latin typeface="+mj-lt"/>
              </a:rPr>
              <a:t>Neto naboj (net_charge) pokazao se kao najvažnija značajka.</a:t>
            </a:r>
          </a:p>
          <a:p>
            <a:r>
              <a:rPr lang="bs-Latn-BA" sz="1800" dirty="0">
                <a:solidFill>
                  <a:srgbClr val="000000"/>
                </a:solidFill>
                <a:latin typeface="+mj-lt"/>
              </a:rPr>
              <a:t>Važan doprinos imaju i hidrofobnost, duljina sekvence i AAC.</a:t>
            </a:r>
          </a:p>
          <a:p>
            <a:r>
              <a:rPr lang="bs-Latn-BA" sz="1800" dirty="0">
                <a:solidFill>
                  <a:srgbClr val="000000"/>
                </a:solidFill>
                <a:latin typeface="+mj-lt"/>
              </a:rPr>
              <a:t>Analizirani su pogrešno klasificirani primjeri kako bi se bolje razumjela ograničenja modela.</a:t>
            </a:r>
          </a:p>
          <a:p>
            <a:pPr marL="0" indent="0">
              <a:buNone/>
            </a:pPr>
            <a:endParaRPr lang="bs-Latn-BA" sz="1800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A9D766-DF6E-4BEF-BECF-6D4A3422CA89}"/>
              </a:ext>
            </a:extLst>
          </p:cNvPr>
          <p:cNvSpPr/>
          <p:nvPr/>
        </p:nvSpPr>
        <p:spPr>
          <a:xfrm>
            <a:off x="0" y="0"/>
            <a:ext cx="12192000" cy="1690688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bs-Latn-BA" sz="4800" b="1" dirty="0">
                <a:solidFill>
                  <a:schemeClr val="bg1"/>
                </a:solidFill>
              </a:rPr>
              <a:t>04. EVALUACIJA MODELA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D7AD2C-B32F-4D2E-A2A6-D5AB410B55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412896"/>
            <a:ext cx="6149363" cy="3261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838001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D268A2E-C912-4EF7-9FB9-59498AA5C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bs-Latn-B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1233D-813E-424B-9283-191BBF6486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52518" y="2055813"/>
            <a:ext cx="11372636" cy="4553534"/>
          </a:xfrm>
        </p:spPr>
        <p:txBody>
          <a:bodyPr>
            <a:noAutofit/>
          </a:bodyPr>
          <a:lstStyle/>
          <a:p>
            <a:r>
              <a:rPr lang="bs-Latn-BA" sz="1800" dirty="0">
                <a:solidFill>
                  <a:srgbClr val="000000"/>
                </a:solidFill>
                <a:latin typeface="+mj-lt"/>
              </a:rPr>
              <a:t>Pripremljen je kvalitetan i uravnotežen skup podataka.</a:t>
            </a:r>
          </a:p>
          <a:p>
            <a:r>
              <a:rPr lang="bs-Latn-BA" sz="1800" dirty="0">
                <a:solidFill>
                  <a:srgbClr val="000000"/>
                </a:solidFill>
                <a:latin typeface="+mj-lt"/>
              </a:rPr>
              <a:t>Izdvojene su bioinformatičke značajke potrebne za klasifikaciju.</a:t>
            </a:r>
          </a:p>
          <a:p>
            <a:r>
              <a:rPr lang="bs-Latn-BA" sz="1800" dirty="0">
                <a:solidFill>
                  <a:srgbClr val="000000"/>
                </a:solidFill>
                <a:latin typeface="+mj-lt"/>
              </a:rPr>
              <a:t>Razvijeni su modeli Random Forest i SVM.</a:t>
            </a:r>
          </a:p>
          <a:p>
            <a:r>
              <a:rPr lang="bs-Latn-BA" sz="1800" dirty="0">
                <a:solidFill>
                  <a:srgbClr val="000000"/>
                </a:solidFill>
                <a:latin typeface="+mj-lt"/>
              </a:rPr>
              <a:t>Random Forest ostvario je najbolje rezultate.</a:t>
            </a:r>
          </a:p>
          <a:p>
            <a:r>
              <a:rPr lang="bs-Latn-BA" sz="1800" dirty="0">
                <a:solidFill>
                  <a:srgbClr val="000000"/>
                </a:solidFill>
                <a:latin typeface="+mj-lt"/>
              </a:rPr>
              <a:t>Bioinformatičke značajke pokazale su se uspješnima za klasifikaciju antimikrobnih peptida.</a:t>
            </a:r>
          </a:p>
          <a:p>
            <a:endParaRPr lang="bs-Latn-BA" sz="1800" dirty="0">
              <a:solidFill>
                <a:srgbClr val="000000"/>
              </a:solidFill>
              <a:latin typeface="+mj-lt"/>
            </a:endParaRPr>
          </a:p>
          <a:p>
            <a:r>
              <a:rPr lang="bs-Latn-BA" sz="1800" dirty="0">
                <a:solidFill>
                  <a:srgbClr val="000000"/>
                </a:solidFill>
                <a:latin typeface="+mj-lt"/>
              </a:rPr>
              <a:t>Projekt je pokazao da se primjenom strojnog učenja može uspješno razlikovati antimikrobne od neantimikrobnih peptida.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A9D766-DF6E-4BEF-BECF-6D4A3422CA89}"/>
              </a:ext>
            </a:extLst>
          </p:cNvPr>
          <p:cNvSpPr/>
          <p:nvPr/>
        </p:nvSpPr>
        <p:spPr>
          <a:xfrm>
            <a:off x="0" y="0"/>
            <a:ext cx="12192000" cy="1690688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bs-Latn-BA" sz="4800" b="1" dirty="0">
                <a:solidFill>
                  <a:schemeClr val="bg1"/>
                </a:solidFill>
              </a:rPr>
              <a:t> ZAKLJUČAK</a:t>
            </a:r>
          </a:p>
        </p:txBody>
      </p:sp>
    </p:spTree>
    <p:extLst>
      <p:ext uri="{BB962C8B-B14F-4D97-AF65-F5344CB8AC3E}">
        <p14:creationId xmlns:p14="http://schemas.microsoft.com/office/powerpoint/2010/main" val="1922022366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1365</TotalTime>
  <Words>1570</Words>
  <Application>Microsoft Office PowerPoint</Application>
  <PresentationFormat>Widescreen</PresentationFormat>
  <Paragraphs>184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Symbol</vt:lpstr>
      <vt:lpstr>Office Theme</vt:lpstr>
      <vt:lpstr>Klasifikacija antimikrobnih peptida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Klasifikacija antimikrobnih peptida</dc:title>
  <dc:creator>ADMIN</dc:creator>
  <cp:lastModifiedBy>ADMIN</cp:lastModifiedBy>
  <cp:revision>201</cp:revision>
  <dcterms:created xsi:type="dcterms:W3CDTF">2026-06-26T04:58:33Z</dcterms:created>
  <dcterms:modified xsi:type="dcterms:W3CDTF">2026-07-10T06:40:27Z</dcterms:modified>
</cp:coreProperties>
</file>
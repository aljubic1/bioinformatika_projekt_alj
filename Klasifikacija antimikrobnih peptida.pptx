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66" r:id="rId4"/>
    <p:sldId id="258" r:id="rId5"/>
    <p:sldId id="259" r:id="rId6"/>
    <p:sldId id="260" r:id="rId7"/>
    <p:sldId id="261" r:id="rId8"/>
    <p:sldId id="262" r:id="rId9"/>
    <p:sldId id="263" r:id="rId10"/>
    <p:sldId id="264" r:id="rId11"/>
    <p:sldId id="265" r:id="rId12"/>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43" autoAdjust="0"/>
  </p:normalViewPr>
  <p:slideViewPr>
    <p:cSldViewPr snapToGrid="0">
      <p:cViewPr>
        <p:scale>
          <a:sx n="50" d="100"/>
          <a:sy n="50" d="100"/>
        </p:scale>
        <p:origin x="29" y="653"/>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bs-Latn-B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D05F32-D78A-4E1F-B2F3-65342D9B1B9D}" type="datetimeFigureOut">
              <a:rPr lang="bs-Latn-BA" smtClean="0"/>
              <a:t>26. 6. 2026.</a:t>
            </a:fld>
            <a:endParaRPr lang="bs-Latn-B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bs-Latn-B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bs-Latn-B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06B9C-569B-4D47-9A3F-D8CFD8AF2F39}" type="slidenum">
              <a:rPr lang="bs-Latn-BA" smtClean="0"/>
              <a:t>‹#›</a:t>
            </a:fld>
            <a:endParaRPr lang="bs-Latn-BA"/>
          </a:p>
        </p:txBody>
      </p:sp>
    </p:spTree>
    <p:extLst>
      <p:ext uri="{BB962C8B-B14F-4D97-AF65-F5344CB8AC3E}">
        <p14:creationId xmlns:p14="http://schemas.microsoft.com/office/powerpoint/2010/main" val="2216912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bs-Latn-BA" dirty="0"/>
              <a:t>Dobar dan. Ja sam Ana Ljubić i u ovom projektu bavila sam se klasifikacijom antimikrobnih peptida primjenom metoda strojnog učenja. Tijekom prezentacije prikazat ću problem koji se rješava, korištene podatke, bioinformatičke značajke, modele strojnog učenja te rezultate koje sam dobila.</a:t>
            </a:r>
          </a:p>
        </p:txBody>
      </p:sp>
      <p:sp>
        <p:nvSpPr>
          <p:cNvPr id="4" name="Slide Number Placeholder 3"/>
          <p:cNvSpPr>
            <a:spLocks noGrp="1"/>
          </p:cNvSpPr>
          <p:nvPr>
            <p:ph type="sldNum" sz="quarter" idx="5"/>
          </p:nvPr>
        </p:nvSpPr>
        <p:spPr/>
        <p:txBody>
          <a:bodyPr/>
          <a:lstStyle/>
          <a:p>
            <a:fld id="{F6C06B9C-569B-4D47-9A3F-D8CFD8AF2F39}" type="slidenum">
              <a:rPr lang="bs-Latn-BA" smtClean="0"/>
              <a:t>1</a:t>
            </a:fld>
            <a:endParaRPr lang="bs-Latn-BA"/>
          </a:p>
        </p:txBody>
      </p:sp>
    </p:spTree>
    <p:extLst>
      <p:ext uri="{BB962C8B-B14F-4D97-AF65-F5344CB8AC3E}">
        <p14:creationId xmlns:p14="http://schemas.microsoft.com/office/powerpoint/2010/main" val="3967889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bs-Latn-BA" dirty="0"/>
              <a:t>Prezentacija je podijeljena u šest cjelina. Najprije ću objasniti motivaciju i cilj projekta, zatim opisati korištene skupove podataka i bioinformatičke značajke. Nakon toga prikazat ću modele strojnog učenja, rezultate evaluacije te na kraju iznijeti zaključak.</a:t>
            </a:r>
          </a:p>
        </p:txBody>
      </p:sp>
      <p:sp>
        <p:nvSpPr>
          <p:cNvPr id="4" name="Slide Number Placeholder 3"/>
          <p:cNvSpPr>
            <a:spLocks noGrp="1"/>
          </p:cNvSpPr>
          <p:nvPr>
            <p:ph type="sldNum" sz="quarter" idx="5"/>
          </p:nvPr>
        </p:nvSpPr>
        <p:spPr/>
        <p:txBody>
          <a:bodyPr/>
          <a:lstStyle/>
          <a:p>
            <a:fld id="{F6C06B9C-569B-4D47-9A3F-D8CFD8AF2F39}" type="slidenum">
              <a:rPr lang="bs-Latn-BA" smtClean="0"/>
              <a:t>2</a:t>
            </a:fld>
            <a:endParaRPr lang="bs-Latn-BA"/>
          </a:p>
        </p:txBody>
      </p:sp>
    </p:spTree>
    <p:extLst>
      <p:ext uri="{BB962C8B-B14F-4D97-AF65-F5344CB8AC3E}">
        <p14:creationId xmlns:p14="http://schemas.microsoft.com/office/powerpoint/2010/main" val="8043159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bs-Latn-BA" dirty="0"/>
              <a:t>Razlog odabira ove teme je sve veća otpornost bakterija na postojeće antibiotike. Antimikrobni peptidi predstavljaju prirodne molekule koje mogu djelovati protiv bakterija, gljivica i drugih mikroorganizama. Cilj projekta bio je razviti model strojnog učenja koji će na temelju bioinformatičkih značajki razlikovati antimikrobne od neantimikrobnih peptida.</a:t>
            </a:r>
          </a:p>
        </p:txBody>
      </p:sp>
      <p:sp>
        <p:nvSpPr>
          <p:cNvPr id="4" name="Slide Number Placeholder 3"/>
          <p:cNvSpPr>
            <a:spLocks noGrp="1"/>
          </p:cNvSpPr>
          <p:nvPr>
            <p:ph type="sldNum" sz="quarter" idx="5"/>
          </p:nvPr>
        </p:nvSpPr>
        <p:spPr/>
        <p:txBody>
          <a:bodyPr/>
          <a:lstStyle/>
          <a:p>
            <a:fld id="{F6C06B9C-569B-4D47-9A3F-D8CFD8AF2F39}" type="slidenum">
              <a:rPr lang="bs-Latn-BA" smtClean="0"/>
              <a:t>3</a:t>
            </a:fld>
            <a:endParaRPr lang="bs-Latn-BA"/>
          </a:p>
        </p:txBody>
      </p:sp>
    </p:spTree>
    <p:extLst>
      <p:ext uri="{BB962C8B-B14F-4D97-AF65-F5344CB8AC3E}">
        <p14:creationId xmlns:p14="http://schemas.microsoft.com/office/powerpoint/2010/main" val="1630053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5A784-C88C-421F-85AA-624BF1C568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bs-Latn-BA"/>
          </a:p>
        </p:txBody>
      </p:sp>
      <p:sp>
        <p:nvSpPr>
          <p:cNvPr id="3" name="Subtitle 2">
            <a:extLst>
              <a:ext uri="{FF2B5EF4-FFF2-40B4-BE49-F238E27FC236}">
                <a16:creationId xmlns:a16="http://schemas.microsoft.com/office/drawing/2014/main" id="{2F4FBF9F-E125-4167-9764-470C7DA354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bs-Latn-BA"/>
          </a:p>
        </p:txBody>
      </p:sp>
      <p:sp>
        <p:nvSpPr>
          <p:cNvPr id="4" name="Date Placeholder 3">
            <a:extLst>
              <a:ext uri="{FF2B5EF4-FFF2-40B4-BE49-F238E27FC236}">
                <a16:creationId xmlns:a16="http://schemas.microsoft.com/office/drawing/2014/main" id="{4D50ECB7-72D9-47A5-AD9A-5809F4688DB1}"/>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95652C16-3977-4DF1-8119-4A3F75D63571}"/>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7968ABB7-AE34-4451-BD3B-17FCADED221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452045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CD6AA-4FBE-4711-A931-A8B495440F49}"/>
              </a:ext>
            </a:extLst>
          </p:cNvPr>
          <p:cNvSpPr>
            <a:spLocks noGrp="1"/>
          </p:cNvSpPr>
          <p:nvPr>
            <p:ph type="title"/>
          </p:nvPr>
        </p:nvSpPr>
        <p:spPr/>
        <p:txBody>
          <a:body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39373AF1-03C6-43F7-872B-DB2E1A8CFD0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4EFDA79C-1E1D-4555-A654-A22BE2603950}"/>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CE56FCA8-6650-4836-8FCE-53B01A8E8CBA}"/>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DA3C3D61-75F6-4980-9C58-B2014B91E842}"/>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772181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FCFBB-560F-4F43-8213-248E2CA728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bs-Latn-BA"/>
          </a:p>
        </p:txBody>
      </p:sp>
      <p:sp>
        <p:nvSpPr>
          <p:cNvPr id="3" name="Text Placeholder 2">
            <a:extLst>
              <a:ext uri="{FF2B5EF4-FFF2-40B4-BE49-F238E27FC236}">
                <a16:creationId xmlns:a16="http://schemas.microsoft.com/office/drawing/2014/main" id="{FEC9863B-C9D9-486B-80FA-002F17EF46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E604CC-9856-4EC2-A622-2336103D3CE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A7B6D9D7-A4F8-4C31-AE16-6FBA070934F1}"/>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999595C3-D095-4C14-A4C1-4616B89DD61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7897438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58CC9-42AF-4E97-AC75-E17700FFC281}"/>
              </a:ext>
            </a:extLst>
          </p:cNvPr>
          <p:cNvSpPr>
            <a:spLocks noGrp="1"/>
          </p:cNvSpPr>
          <p:nvPr>
            <p:ph type="title"/>
          </p:nvPr>
        </p:nvSpPr>
        <p:spPr/>
        <p:txBody>
          <a:body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5F108790-248B-4028-8FD8-A84B2A4CEB2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Content Placeholder 3">
            <a:extLst>
              <a:ext uri="{FF2B5EF4-FFF2-40B4-BE49-F238E27FC236}">
                <a16:creationId xmlns:a16="http://schemas.microsoft.com/office/drawing/2014/main" id="{19705875-2793-44CA-86AD-BC2F087EA7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5" name="Date Placeholder 4">
            <a:extLst>
              <a:ext uri="{FF2B5EF4-FFF2-40B4-BE49-F238E27FC236}">
                <a16:creationId xmlns:a16="http://schemas.microsoft.com/office/drawing/2014/main" id="{586C8CFE-74E9-4831-859D-7D928C80AAB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58061133-34F9-46EC-B0AC-CBC4C3BF9488}"/>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DD58DF13-945A-4B55-B413-6D00C163F851}"/>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2554151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5DDDB-56EE-44FB-AE0A-E25ED5102E11}"/>
              </a:ext>
            </a:extLst>
          </p:cNvPr>
          <p:cNvSpPr>
            <a:spLocks noGrp="1"/>
          </p:cNvSpPr>
          <p:nvPr>
            <p:ph type="title"/>
          </p:nvPr>
        </p:nvSpPr>
        <p:spPr>
          <a:xfrm>
            <a:off x="839788" y="365125"/>
            <a:ext cx="10515600" cy="1325563"/>
          </a:xfrm>
        </p:spPr>
        <p:txBody>
          <a:bodyPr/>
          <a:lstStyle/>
          <a:p>
            <a:r>
              <a:rPr lang="en-US"/>
              <a:t>Click to edit Master title style</a:t>
            </a:r>
            <a:endParaRPr lang="bs-Latn-BA"/>
          </a:p>
        </p:txBody>
      </p:sp>
      <p:sp>
        <p:nvSpPr>
          <p:cNvPr id="3" name="Text Placeholder 2">
            <a:extLst>
              <a:ext uri="{FF2B5EF4-FFF2-40B4-BE49-F238E27FC236}">
                <a16:creationId xmlns:a16="http://schemas.microsoft.com/office/drawing/2014/main" id="{6AD1CB16-2748-412A-A506-3AF93A1573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A5E538A-7A0D-4024-95D3-A9500EC062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5" name="Text Placeholder 4">
            <a:extLst>
              <a:ext uri="{FF2B5EF4-FFF2-40B4-BE49-F238E27FC236}">
                <a16:creationId xmlns:a16="http://schemas.microsoft.com/office/drawing/2014/main" id="{A35BBF2D-9FB5-4349-BED6-FBD3856BBD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9A9E108-92F5-41E5-8EB6-E0BC928F8F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7" name="Date Placeholder 6">
            <a:extLst>
              <a:ext uri="{FF2B5EF4-FFF2-40B4-BE49-F238E27FC236}">
                <a16:creationId xmlns:a16="http://schemas.microsoft.com/office/drawing/2014/main" id="{A79AD4F3-448E-4EC4-B647-5625B72DA6B4}"/>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8" name="Footer Placeholder 7">
            <a:extLst>
              <a:ext uri="{FF2B5EF4-FFF2-40B4-BE49-F238E27FC236}">
                <a16:creationId xmlns:a16="http://schemas.microsoft.com/office/drawing/2014/main" id="{AE8084D2-14A3-4082-B70F-9851D082F07E}"/>
              </a:ext>
            </a:extLst>
          </p:cNvPr>
          <p:cNvSpPr>
            <a:spLocks noGrp="1"/>
          </p:cNvSpPr>
          <p:nvPr>
            <p:ph type="ftr" sz="quarter" idx="11"/>
          </p:nvPr>
        </p:nvSpPr>
        <p:spPr/>
        <p:txBody>
          <a:bodyPr/>
          <a:lstStyle/>
          <a:p>
            <a:endParaRPr lang="bs-Latn-BA"/>
          </a:p>
        </p:txBody>
      </p:sp>
      <p:sp>
        <p:nvSpPr>
          <p:cNvPr id="9" name="Slide Number Placeholder 8">
            <a:extLst>
              <a:ext uri="{FF2B5EF4-FFF2-40B4-BE49-F238E27FC236}">
                <a16:creationId xmlns:a16="http://schemas.microsoft.com/office/drawing/2014/main" id="{7D070BC7-B6CB-481E-A568-3A28AACE66AF}"/>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4508145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37FD3-2198-4015-99BD-EAA899D9B1E3}"/>
              </a:ext>
            </a:extLst>
          </p:cNvPr>
          <p:cNvSpPr>
            <a:spLocks noGrp="1"/>
          </p:cNvSpPr>
          <p:nvPr>
            <p:ph type="title"/>
          </p:nvPr>
        </p:nvSpPr>
        <p:spPr/>
        <p:txBody>
          <a:bodyPr/>
          <a:lstStyle/>
          <a:p>
            <a:r>
              <a:rPr lang="en-US"/>
              <a:t>Click to edit Master title style</a:t>
            </a:r>
            <a:endParaRPr lang="bs-Latn-BA"/>
          </a:p>
        </p:txBody>
      </p:sp>
      <p:sp>
        <p:nvSpPr>
          <p:cNvPr id="3" name="Date Placeholder 2">
            <a:extLst>
              <a:ext uri="{FF2B5EF4-FFF2-40B4-BE49-F238E27FC236}">
                <a16:creationId xmlns:a16="http://schemas.microsoft.com/office/drawing/2014/main" id="{E7C92FE9-4F9B-4329-BA31-F237B6C2CB3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4" name="Footer Placeholder 3">
            <a:extLst>
              <a:ext uri="{FF2B5EF4-FFF2-40B4-BE49-F238E27FC236}">
                <a16:creationId xmlns:a16="http://schemas.microsoft.com/office/drawing/2014/main" id="{7205C584-7E76-450D-B8B1-B424421B8828}"/>
              </a:ext>
            </a:extLst>
          </p:cNvPr>
          <p:cNvSpPr>
            <a:spLocks noGrp="1"/>
          </p:cNvSpPr>
          <p:nvPr>
            <p:ph type="ftr" sz="quarter" idx="11"/>
          </p:nvPr>
        </p:nvSpPr>
        <p:spPr/>
        <p:txBody>
          <a:bodyPr/>
          <a:lstStyle/>
          <a:p>
            <a:endParaRPr lang="bs-Latn-BA"/>
          </a:p>
        </p:txBody>
      </p:sp>
      <p:sp>
        <p:nvSpPr>
          <p:cNvPr id="5" name="Slide Number Placeholder 4">
            <a:extLst>
              <a:ext uri="{FF2B5EF4-FFF2-40B4-BE49-F238E27FC236}">
                <a16:creationId xmlns:a16="http://schemas.microsoft.com/office/drawing/2014/main" id="{7A3D9CF8-2A4D-4F63-9548-0BF33B26226D}"/>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91380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9BA5A5-DAFF-474A-9308-5AB372600A2C}"/>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3" name="Footer Placeholder 2">
            <a:extLst>
              <a:ext uri="{FF2B5EF4-FFF2-40B4-BE49-F238E27FC236}">
                <a16:creationId xmlns:a16="http://schemas.microsoft.com/office/drawing/2014/main" id="{F77A1820-F148-42BA-AA35-A464931AFACB}"/>
              </a:ext>
            </a:extLst>
          </p:cNvPr>
          <p:cNvSpPr>
            <a:spLocks noGrp="1"/>
          </p:cNvSpPr>
          <p:nvPr>
            <p:ph type="ftr" sz="quarter" idx="11"/>
          </p:nvPr>
        </p:nvSpPr>
        <p:spPr/>
        <p:txBody>
          <a:bodyPr/>
          <a:lstStyle/>
          <a:p>
            <a:endParaRPr lang="bs-Latn-BA"/>
          </a:p>
        </p:txBody>
      </p:sp>
      <p:sp>
        <p:nvSpPr>
          <p:cNvPr id="4" name="Slide Number Placeholder 3">
            <a:extLst>
              <a:ext uri="{FF2B5EF4-FFF2-40B4-BE49-F238E27FC236}">
                <a16:creationId xmlns:a16="http://schemas.microsoft.com/office/drawing/2014/main" id="{4BDC8D68-9EB6-4A5B-9249-C5C4C39FEA33}"/>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82462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226C-3377-4579-B7A3-BA9839418B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33027AF0-D814-4D2C-BE72-52A8D397FDC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Text Placeholder 3">
            <a:extLst>
              <a:ext uri="{FF2B5EF4-FFF2-40B4-BE49-F238E27FC236}">
                <a16:creationId xmlns:a16="http://schemas.microsoft.com/office/drawing/2014/main" id="{7A8FBF00-41F4-48E6-BCDC-5E9443D219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3C339E-BD78-4192-A5CC-3611930D4CB4}"/>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91BF4C4A-497E-4B9D-9391-4D5DDA2421E4}"/>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49A9FF78-869D-4929-8F8C-08356CA2ABF3}"/>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345226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3B243-B606-4B6E-A094-48CF787828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bs-Latn-BA"/>
          </a:p>
        </p:txBody>
      </p:sp>
      <p:sp>
        <p:nvSpPr>
          <p:cNvPr id="3" name="Picture Placeholder 2">
            <a:extLst>
              <a:ext uri="{FF2B5EF4-FFF2-40B4-BE49-F238E27FC236}">
                <a16:creationId xmlns:a16="http://schemas.microsoft.com/office/drawing/2014/main" id="{E0ECA569-653A-46B3-B291-D39E87B06E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bs-Latn-BA"/>
          </a:p>
        </p:txBody>
      </p:sp>
      <p:sp>
        <p:nvSpPr>
          <p:cNvPr id="4" name="Text Placeholder 3">
            <a:extLst>
              <a:ext uri="{FF2B5EF4-FFF2-40B4-BE49-F238E27FC236}">
                <a16:creationId xmlns:a16="http://schemas.microsoft.com/office/drawing/2014/main" id="{AA6D16E5-BAE8-4143-82BC-239933C542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98A3D2-DF7A-45A7-8EC9-155242BD68B9}"/>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AA2843D2-9739-458B-913C-2D3AE4EAB023}"/>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C6556584-26CA-48F5-9A72-3F93CABBE10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236084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6276A-B85F-4A5D-85BA-AC274AFF82C5}"/>
              </a:ext>
            </a:extLst>
          </p:cNvPr>
          <p:cNvSpPr>
            <a:spLocks noGrp="1"/>
          </p:cNvSpPr>
          <p:nvPr>
            <p:ph type="title"/>
          </p:nvPr>
        </p:nvSpPr>
        <p:spPr/>
        <p:txBody>
          <a:bodyPr/>
          <a:lstStyle/>
          <a:p>
            <a:r>
              <a:rPr lang="en-US"/>
              <a:t>Click to edit Master title style</a:t>
            </a:r>
            <a:endParaRPr lang="bs-Latn-BA"/>
          </a:p>
        </p:txBody>
      </p:sp>
      <p:sp>
        <p:nvSpPr>
          <p:cNvPr id="3" name="Vertical Text Placeholder 2">
            <a:extLst>
              <a:ext uri="{FF2B5EF4-FFF2-40B4-BE49-F238E27FC236}">
                <a16:creationId xmlns:a16="http://schemas.microsoft.com/office/drawing/2014/main" id="{9CE2E793-87A4-40FD-B2E5-4BB1C757B3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5A0129C2-175C-4E02-A569-E367639955BB}"/>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137F793D-D806-42E6-A9DD-6928C454BF46}"/>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7747DFEA-2757-41FA-9428-EE576B23F14B}"/>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418979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3ECCDE-15DC-4AD8-83CB-E9A80EDBCBC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bs-Latn-BA"/>
          </a:p>
        </p:txBody>
      </p:sp>
      <p:sp>
        <p:nvSpPr>
          <p:cNvPr id="3" name="Vertical Text Placeholder 2">
            <a:extLst>
              <a:ext uri="{FF2B5EF4-FFF2-40B4-BE49-F238E27FC236}">
                <a16:creationId xmlns:a16="http://schemas.microsoft.com/office/drawing/2014/main" id="{4B84AFB5-4F7C-410A-8FE5-6F719E9AEF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A37677FE-49B4-49A8-8D24-AC9486238DA5}"/>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26F274CF-3192-40B9-B8F0-DDF053AC5ACF}"/>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4C40D48E-8D06-4724-8C2A-8AA02BA10B80}"/>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967892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3F72F8-7C47-4599-8A00-C1B4D49911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bs-Latn-BA"/>
          </a:p>
        </p:txBody>
      </p:sp>
      <p:sp>
        <p:nvSpPr>
          <p:cNvPr id="3" name="Text Placeholder 2">
            <a:extLst>
              <a:ext uri="{FF2B5EF4-FFF2-40B4-BE49-F238E27FC236}">
                <a16:creationId xmlns:a16="http://schemas.microsoft.com/office/drawing/2014/main" id="{F809F6CA-8B1A-4ED1-BD93-F2B19239D3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61DEB921-0B60-477D-841D-61E6F36D40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39086DD1-F2BD-4BEA-BA79-4B10A8BC99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bs-Latn-BA"/>
          </a:p>
        </p:txBody>
      </p:sp>
      <p:sp>
        <p:nvSpPr>
          <p:cNvPr id="6" name="Slide Number Placeholder 5">
            <a:extLst>
              <a:ext uri="{FF2B5EF4-FFF2-40B4-BE49-F238E27FC236}">
                <a16:creationId xmlns:a16="http://schemas.microsoft.com/office/drawing/2014/main" id="{841BD7F7-B364-4167-971B-EC42F97E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C74002-412B-448B-ACD9-3D02CBE66EFF}" type="slidenum">
              <a:rPr lang="bs-Latn-BA" smtClean="0"/>
              <a:t>‹#›</a:t>
            </a:fld>
            <a:endParaRPr lang="bs-Latn-BA"/>
          </a:p>
        </p:txBody>
      </p:sp>
    </p:spTree>
    <p:extLst>
      <p:ext uri="{BB962C8B-B14F-4D97-AF65-F5344CB8AC3E}">
        <p14:creationId xmlns:p14="http://schemas.microsoft.com/office/powerpoint/2010/main" val="11313835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97B2-643A-4359-B78B-267AA4BE2090}"/>
              </a:ext>
            </a:extLst>
          </p:cNvPr>
          <p:cNvSpPr>
            <a:spLocks noGrp="1"/>
          </p:cNvSpPr>
          <p:nvPr>
            <p:ph type="ctrTitle"/>
          </p:nvPr>
        </p:nvSpPr>
        <p:spPr/>
        <p:txBody>
          <a:bodyPr>
            <a:normAutofit/>
          </a:bodyPr>
          <a:lstStyle/>
          <a:p>
            <a:r>
              <a:rPr lang="sv-SE" sz="3400" dirty="0">
                <a:solidFill>
                  <a:schemeClr val="accent1">
                    <a:lumMod val="50000"/>
                  </a:schemeClr>
                </a:solidFill>
              </a:rPr>
              <a:t>Klasifikacija antimikrobnih peptida</a:t>
            </a:r>
            <a:endParaRPr lang="bs-Latn-BA" sz="3400" dirty="0">
              <a:solidFill>
                <a:schemeClr val="accent1">
                  <a:lumMod val="50000"/>
                </a:schemeClr>
              </a:solidFill>
            </a:endParaRPr>
          </a:p>
        </p:txBody>
      </p:sp>
      <p:sp>
        <p:nvSpPr>
          <p:cNvPr id="3" name="Subtitle 2">
            <a:extLst>
              <a:ext uri="{FF2B5EF4-FFF2-40B4-BE49-F238E27FC236}">
                <a16:creationId xmlns:a16="http://schemas.microsoft.com/office/drawing/2014/main" id="{8171C152-F8CA-4458-BC77-34D2FD881A23}"/>
              </a:ext>
            </a:extLst>
          </p:cNvPr>
          <p:cNvSpPr>
            <a:spLocks noGrp="1"/>
          </p:cNvSpPr>
          <p:nvPr>
            <p:ph type="subTitle" idx="1"/>
          </p:nvPr>
        </p:nvSpPr>
        <p:spPr/>
        <p:txBody>
          <a:bodyPr>
            <a:normAutofit/>
          </a:bodyPr>
          <a:lstStyle/>
          <a:p>
            <a:r>
              <a:rPr lang="bs-Latn-BA" sz="2200" dirty="0"/>
              <a:t>Ana Ljubić</a:t>
            </a:r>
          </a:p>
          <a:p>
            <a:endParaRPr lang="bs-Latn-BA" sz="2200" dirty="0"/>
          </a:p>
        </p:txBody>
      </p:sp>
      <p:sp>
        <p:nvSpPr>
          <p:cNvPr id="8" name="TextBox 7">
            <a:extLst>
              <a:ext uri="{FF2B5EF4-FFF2-40B4-BE49-F238E27FC236}">
                <a16:creationId xmlns:a16="http://schemas.microsoft.com/office/drawing/2014/main" id="{1F49AE84-27E2-40D9-8F97-556CE28A3282}"/>
              </a:ext>
            </a:extLst>
          </p:cNvPr>
          <p:cNvSpPr txBox="1"/>
          <p:nvPr/>
        </p:nvSpPr>
        <p:spPr>
          <a:xfrm>
            <a:off x="1646500" y="6048697"/>
            <a:ext cx="6094070" cy="646331"/>
          </a:xfrm>
          <a:prstGeom prst="rect">
            <a:avLst/>
          </a:prstGeom>
          <a:noFill/>
        </p:spPr>
        <p:txBody>
          <a:bodyPr wrap="square">
            <a:spAutoFit/>
          </a:bodyPr>
          <a:lstStyle/>
          <a:p>
            <a:r>
              <a:rPr lang="bs-Latn-BA" dirty="0"/>
              <a:t>Kolegij: </a:t>
            </a:r>
            <a:r>
              <a:rPr lang="bs-Latn-BA" sz="1800" dirty="0"/>
              <a:t>Bioinformatika</a:t>
            </a:r>
          </a:p>
          <a:p>
            <a:r>
              <a:rPr lang="bs-Latn-BA" sz="1800" dirty="0"/>
              <a:t>Sveučilište u Mostaru</a:t>
            </a:r>
          </a:p>
        </p:txBody>
      </p:sp>
    </p:spTree>
    <p:extLst>
      <p:ext uri="{BB962C8B-B14F-4D97-AF65-F5344CB8AC3E}">
        <p14:creationId xmlns:p14="http://schemas.microsoft.com/office/powerpoint/2010/main" val="33803831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FC1B9-5EC9-470E-8A7A-2C8F6721F771}"/>
              </a:ext>
            </a:extLst>
          </p:cNvPr>
          <p:cNvSpPr>
            <a:spLocks noGrp="1"/>
          </p:cNvSpPr>
          <p:nvPr>
            <p:ph type="title"/>
          </p:nvPr>
        </p:nvSpPr>
        <p:spPr/>
        <p:txBody>
          <a:bodyPr/>
          <a:lstStyle/>
          <a:p>
            <a:r>
              <a:rPr lang="bs-Latn-BA" dirty="0"/>
              <a:t>SADRŽAJ:</a:t>
            </a:r>
          </a:p>
        </p:txBody>
      </p:sp>
      <p:sp>
        <p:nvSpPr>
          <p:cNvPr id="3" name="Content Placeholder 2">
            <a:extLst>
              <a:ext uri="{FF2B5EF4-FFF2-40B4-BE49-F238E27FC236}">
                <a16:creationId xmlns:a16="http://schemas.microsoft.com/office/drawing/2014/main" id="{0211233D-813E-424B-9283-191BBF648682}"/>
              </a:ext>
            </a:extLst>
          </p:cNvPr>
          <p:cNvSpPr>
            <a:spLocks noGrp="1"/>
          </p:cNvSpPr>
          <p:nvPr>
            <p:ph sz="half" idx="1"/>
          </p:nvPr>
        </p:nvSpPr>
        <p:spPr/>
        <p:txBody>
          <a:bodyPr>
            <a:normAutofit/>
          </a:bodyPr>
          <a:lstStyle/>
          <a:p>
            <a:pPr marL="0" indent="0">
              <a:buNone/>
            </a:pPr>
            <a:r>
              <a:rPr lang="bs-Latn-BA" dirty="0"/>
              <a:t>📌 Motivacija i cilj</a:t>
            </a:r>
          </a:p>
          <a:p>
            <a:pPr marL="0" indent="0">
              <a:buNone/>
            </a:pPr>
            <a:r>
              <a:rPr lang="bs-Latn-BA" dirty="0"/>
              <a:t>📌 Skup podataka</a:t>
            </a:r>
          </a:p>
          <a:p>
            <a:pPr marL="0" indent="0">
              <a:buNone/>
            </a:pPr>
            <a:r>
              <a:rPr lang="bs-Latn-BA" dirty="0"/>
              <a:t>📌 Bioinformatičke značajke</a:t>
            </a:r>
          </a:p>
        </p:txBody>
      </p:sp>
      <p:sp>
        <p:nvSpPr>
          <p:cNvPr id="4" name="Content Placeholder 3">
            <a:extLst>
              <a:ext uri="{FF2B5EF4-FFF2-40B4-BE49-F238E27FC236}">
                <a16:creationId xmlns:a16="http://schemas.microsoft.com/office/drawing/2014/main" id="{1A2FE1EF-7C0F-41D4-91AF-6CC46C57B94C}"/>
              </a:ext>
            </a:extLst>
          </p:cNvPr>
          <p:cNvSpPr>
            <a:spLocks noGrp="1"/>
          </p:cNvSpPr>
          <p:nvPr>
            <p:ph sz="half" idx="2"/>
          </p:nvPr>
        </p:nvSpPr>
        <p:spPr/>
        <p:txBody>
          <a:bodyPr>
            <a:normAutofit/>
          </a:bodyPr>
          <a:lstStyle/>
          <a:p>
            <a:pPr marL="0" indent="0">
              <a:buNone/>
            </a:pPr>
            <a:r>
              <a:rPr lang="bs-Latn-BA" dirty="0"/>
              <a:t>📌 Modeliranje</a:t>
            </a:r>
          </a:p>
          <a:p>
            <a:pPr marL="0" indent="0">
              <a:buNone/>
            </a:pPr>
            <a:r>
              <a:rPr lang="bs-Latn-BA" dirty="0"/>
              <a:t>📌 Rezultati</a:t>
            </a:r>
          </a:p>
          <a:p>
            <a:pPr marL="0" indent="0">
              <a:buNone/>
            </a:pPr>
            <a:r>
              <a:rPr lang="bs-Latn-BA" dirty="0"/>
              <a:t>📌 Zaključak</a:t>
            </a:r>
          </a:p>
          <a:p>
            <a:endParaRPr lang="bs-Latn-BA" dirty="0"/>
          </a:p>
        </p:txBody>
      </p:sp>
    </p:spTree>
    <p:extLst>
      <p:ext uri="{BB962C8B-B14F-4D97-AF65-F5344CB8AC3E}">
        <p14:creationId xmlns:p14="http://schemas.microsoft.com/office/powerpoint/2010/main" val="3044474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FC1B9-5EC9-470E-8A7A-2C8F6721F771}"/>
              </a:ext>
            </a:extLst>
          </p:cNvPr>
          <p:cNvSpPr>
            <a:spLocks noGrp="1"/>
          </p:cNvSpPr>
          <p:nvPr>
            <p:ph type="title"/>
          </p:nvPr>
        </p:nvSpPr>
        <p:spPr/>
        <p:txBody>
          <a:bodyPr/>
          <a:lstStyle/>
          <a:p>
            <a:r>
              <a:rPr lang="bs-Latn-BA" dirty="0"/>
              <a:t>MOTIVACIJA I CILJ</a:t>
            </a:r>
          </a:p>
        </p:txBody>
      </p:sp>
      <p:sp>
        <p:nvSpPr>
          <p:cNvPr id="3" name="Content Placeholder 2">
            <a:extLst>
              <a:ext uri="{FF2B5EF4-FFF2-40B4-BE49-F238E27FC236}">
                <a16:creationId xmlns:a16="http://schemas.microsoft.com/office/drawing/2014/main" id="{0211233D-813E-424B-9283-191BBF648682}"/>
              </a:ext>
            </a:extLst>
          </p:cNvPr>
          <p:cNvSpPr>
            <a:spLocks noGrp="1"/>
          </p:cNvSpPr>
          <p:nvPr>
            <p:ph sz="half" idx="1"/>
          </p:nvPr>
        </p:nvSpPr>
        <p:spPr>
          <a:xfrm>
            <a:off x="2118360" y="2800985"/>
            <a:ext cx="1844040" cy="1755775"/>
          </a:xfrm>
        </p:spPr>
        <p:txBody>
          <a:bodyPr>
            <a:normAutofit/>
          </a:bodyPr>
          <a:lstStyle/>
          <a:p>
            <a:pPr marL="0" indent="0">
              <a:buNone/>
            </a:pPr>
            <a:r>
              <a:rPr lang="bs-Latn-BA" sz="9600" dirty="0"/>
              <a:t>🦠 </a:t>
            </a:r>
          </a:p>
        </p:txBody>
      </p:sp>
      <p:sp>
        <p:nvSpPr>
          <p:cNvPr id="4" name="Content Placeholder 3">
            <a:extLst>
              <a:ext uri="{FF2B5EF4-FFF2-40B4-BE49-F238E27FC236}">
                <a16:creationId xmlns:a16="http://schemas.microsoft.com/office/drawing/2014/main" id="{1A2FE1EF-7C0F-41D4-91AF-6CC46C57B94C}"/>
              </a:ext>
            </a:extLst>
          </p:cNvPr>
          <p:cNvSpPr>
            <a:spLocks noGrp="1"/>
          </p:cNvSpPr>
          <p:nvPr>
            <p:ph sz="half" idx="2"/>
          </p:nvPr>
        </p:nvSpPr>
        <p:spPr>
          <a:xfrm>
            <a:off x="5516882" y="1690688"/>
            <a:ext cx="5425440" cy="4483735"/>
          </a:xfrm>
        </p:spPr>
        <p:txBody>
          <a:bodyPr>
            <a:normAutofit/>
          </a:bodyPr>
          <a:lstStyle/>
          <a:p>
            <a:r>
              <a:rPr lang="bs-Latn-BA" b="1" dirty="0"/>
              <a:t>Zašto antimikrobni peptidi?</a:t>
            </a:r>
          </a:p>
          <a:p>
            <a:pPr marL="0" indent="0">
              <a:buNone/>
            </a:pPr>
            <a:r>
              <a:rPr lang="bs-Latn-BA" dirty="0"/>
              <a:t>✔ otpornost na bakterije</a:t>
            </a:r>
          </a:p>
          <a:p>
            <a:pPr marL="0" indent="0">
              <a:buNone/>
            </a:pPr>
            <a:r>
              <a:rPr lang="bs-Latn-BA" dirty="0"/>
              <a:t>✔ prirodna obrana organizma</a:t>
            </a:r>
          </a:p>
          <a:p>
            <a:pPr marL="0" indent="0">
              <a:buNone/>
            </a:pPr>
            <a:r>
              <a:rPr lang="bs-Latn-BA" dirty="0"/>
              <a:t>✔ mogućnost primjene strojnog učenja</a:t>
            </a:r>
          </a:p>
          <a:p>
            <a:pPr marL="0" indent="0">
              <a:buNone/>
            </a:pPr>
            <a:endParaRPr lang="bs-Latn-BA" dirty="0"/>
          </a:p>
          <a:p>
            <a:pPr marL="0" indent="0">
              <a:buNone/>
            </a:pPr>
            <a:r>
              <a:rPr lang="bs-Latn-BA" b="1" dirty="0"/>
              <a:t>Cilj projekta</a:t>
            </a:r>
            <a:endParaRPr lang="bs-Latn-BA" dirty="0"/>
          </a:p>
          <a:p>
            <a:r>
              <a:rPr lang="bs-Latn-BA" dirty="0"/>
              <a:t>Razlikovati AMP i ne-AMP peptid.</a:t>
            </a:r>
          </a:p>
          <a:p>
            <a:pPr marL="0" indent="0">
              <a:buNone/>
            </a:pPr>
            <a:endParaRPr lang="bs-Latn-BA" dirty="0"/>
          </a:p>
        </p:txBody>
      </p:sp>
    </p:spTree>
    <p:extLst>
      <p:ext uri="{BB962C8B-B14F-4D97-AF65-F5344CB8AC3E}">
        <p14:creationId xmlns:p14="http://schemas.microsoft.com/office/powerpoint/2010/main" val="3115804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5C528-01C7-497E-892F-D6EC4D276DBD}"/>
              </a:ext>
            </a:extLst>
          </p:cNvPr>
          <p:cNvSpPr>
            <a:spLocks noGrp="1"/>
          </p:cNvSpPr>
          <p:nvPr>
            <p:ph type="title"/>
          </p:nvPr>
        </p:nvSpPr>
        <p:spPr/>
        <p:txBody>
          <a:bodyPr/>
          <a:lstStyle/>
          <a:p>
            <a:r>
              <a:rPr lang="bs-Latn-BA" dirty="0"/>
              <a:t>Skup podataka</a:t>
            </a:r>
          </a:p>
        </p:txBody>
      </p:sp>
      <p:sp>
        <p:nvSpPr>
          <p:cNvPr id="3" name="Content Placeholder 2">
            <a:extLst>
              <a:ext uri="{FF2B5EF4-FFF2-40B4-BE49-F238E27FC236}">
                <a16:creationId xmlns:a16="http://schemas.microsoft.com/office/drawing/2014/main" id="{8147D8A0-4E2E-4703-8CE2-CD734FAC35FC}"/>
              </a:ext>
            </a:extLst>
          </p:cNvPr>
          <p:cNvSpPr>
            <a:spLocks noGrp="1"/>
          </p:cNvSpPr>
          <p:nvPr>
            <p:ph sz="half" idx="1"/>
          </p:nvPr>
        </p:nvSpPr>
        <p:spPr/>
        <p:txBody>
          <a:bodyPr>
            <a:normAutofit/>
          </a:bodyPr>
          <a:lstStyle/>
          <a:p>
            <a:r>
              <a:rPr lang="bs-Latn-BA" sz="1200" dirty="0"/>
              <a:t>Za izradu modela koristila sam dva javno dostupna bioinformatička skupa podataka. Antimikrobni peptid preuzeo sam iz baze DBAASP, dok sam neantimikrobni peptid preuzeo iz baze AMPBenchmark. Nakon čišćenja podataka i uklanjanja neispravnih sekvenci formirao se sam konačni skup podataka koji sadrži ukupno 3344 peptidne sekvence, odnosno 1672 antimikrobna i 1672 neantimikrobna peptida. Na grafu je prikazana raspodjela pozitivne i negativne klase Može se vidjeti da su obje klase jednako zastupljene, što je važno jer omogućuje objektivno treniranje modela i smanjuje mogućnost pristranosti prema jednoj klasi.</a:t>
            </a:r>
            <a:endParaRPr lang="bs-Latn-BA" dirty="0"/>
          </a:p>
        </p:txBody>
      </p:sp>
      <p:pic>
        <p:nvPicPr>
          <p:cNvPr id="6" name="Content Placeholder 5">
            <a:extLst>
              <a:ext uri="{FF2B5EF4-FFF2-40B4-BE49-F238E27FC236}">
                <a16:creationId xmlns:a16="http://schemas.microsoft.com/office/drawing/2014/main" id="{ED131449-4F7F-4883-85F6-0069F81A6A8D}"/>
              </a:ext>
            </a:extLst>
          </p:cNvPr>
          <p:cNvPicPr>
            <a:picLocks noGrp="1" noChangeAspect="1"/>
          </p:cNvPicPr>
          <p:nvPr>
            <p:ph sz="half" idx="2"/>
          </p:nvPr>
        </p:nvPicPr>
        <p:blipFill>
          <a:blip r:embed="rId2"/>
          <a:stretch>
            <a:fillRect/>
          </a:stretch>
        </p:blipFill>
        <p:spPr>
          <a:xfrm>
            <a:off x="6172200" y="2363091"/>
            <a:ext cx="5181600" cy="3276405"/>
          </a:xfrm>
        </p:spPr>
      </p:pic>
    </p:spTree>
    <p:extLst>
      <p:ext uri="{BB962C8B-B14F-4D97-AF65-F5344CB8AC3E}">
        <p14:creationId xmlns:p14="http://schemas.microsoft.com/office/powerpoint/2010/main" val="38066403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1BCE6-EF75-48CD-84D3-21530351712B}"/>
              </a:ext>
            </a:extLst>
          </p:cNvPr>
          <p:cNvSpPr>
            <a:spLocks noGrp="1"/>
          </p:cNvSpPr>
          <p:nvPr>
            <p:ph type="title"/>
          </p:nvPr>
        </p:nvSpPr>
        <p:spPr/>
        <p:txBody>
          <a:bodyPr/>
          <a:lstStyle/>
          <a:p>
            <a:r>
              <a:rPr lang="bs-Latn-BA" dirty="0"/>
              <a:t>Bioinformatičke značajke</a:t>
            </a:r>
          </a:p>
        </p:txBody>
      </p:sp>
      <p:sp>
        <p:nvSpPr>
          <p:cNvPr id="5" name="Content Placeholder 4">
            <a:extLst>
              <a:ext uri="{FF2B5EF4-FFF2-40B4-BE49-F238E27FC236}">
                <a16:creationId xmlns:a16="http://schemas.microsoft.com/office/drawing/2014/main" id="{C462CD72-9381-433A-9170-498A228C81A1}"/>
              </a:ext>
            </a:extLst>
          </p:cNvPr>
          <p:cNvSpPr>
            <a:spLocks noGrp="1"/>
          </p:cNvSpPr>
          <p:nvPr>
            <p:ph sz="half" idx="1"/>
          </p:nvPr>
        </p:nvSpPr>
        <p:spPr/>
        <p:txBody>
          <a:bodyPr>
            <a:normAutofit fontScale="70000" lnSpcReduction="20000"/>
          </a:bodyPr>
          <a:lstStyle/>
          <a:p>
            <a:r>
              <a:rPr lang="bs-Latn-BA" dirty="0"/>
              <a:t>Nakon pripreme podataka bilo je potrebno svaku peptidnu sekvencu pretvoriti u numeričke značajke koje mogu koristiti modeli strojnog učenja. U ovom projektu izračunata je četiri skupine značajki. To su duljina sekvence, neto naboj, prosječna hidrofobnost i aminokiselinski sastav, odnosno AAC. AAC predstavlja relativni udio svakog od 20 standardnih aminokiselina u peptidnoj sekvenci. Na grafu je prikazana usporedba prosječnog neto naboja između antimikrobnih i neantimikrobnih peptida Može se uočiti da antimikrobni peptidi imaju znatno veći prosječni neto naboj, što je u skladu s njihovim biološkim svojstvima i omogućuje im učinkovitiju interakciju s membranama mikroorganizama</a:t>
            </a:r>
          </a:p>
        </p:txBody>
      </p:sp>
      <p:pic>
        <p:nvPicPr>
          <p:cNvPr id="8" name="Content Placeholder 7">
            <a:extLst>
              <a:ext uri="{FF2B5EF4-FFF2-40B4-BE49-F238E27FC236}">
                <a16:creationId xmlns:a16="http://schemas.microsoft.com/office/drawing/2014/main" id="{B840B0EB-D453-43BA-8BD1-FA8727CB92B3}"/>
              </a:ext>
            </a:extLst>
          </p:cNvPr>
          <p:cNvPicPr>
            <a:picLocks noGrp="1" noChangeAspect="1"/>
          </p:cNvPicPr>
          <p:nvPr>
            <p:ph sz="half" idx="2"/>
          </p:nvPr>
        </p:nvPicPr>
        <p:blipFill>
          <a:blip r:embed="rId2"/>
          <a:stretch>
            <a:fillRect/>
          </a:stretch>
        </p:blipFill>
        <p:spPr>
          <a:xfrm>
            <a:off x="6172200" y="2221823"/>
            <a:ext cx="5181600" cy="3558941"/>
          </a:xfrm>
        </p:spPr>
      </p:pic>
    </p:spTree>
    <p:extLst>
      <p:ext uri="{BB962C8B-B14F-4D97-AF65-F5344CB8AC3E}">
        <p14:creationId xmlns:p14="http://schemas.microsoft.com/office/powerpoint/2010/main" val="41686570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D11D-4162-40FE-99EB-0361D0414745}"/>
              </a:ext>
            </a:extLst>
          </p:cNvPr>
          <p:cNvSpPr>
            <a:spLocks noGrp="1"/>
          </p:cNvSpPr>
          <p:nvPr>
            <p:ph type="title"/>
          </p:nvPr>
        </p:nvSpPr>
        <p:spPr/>
        <p:txBody>
          <a:bodyPr/>
          <a:lstStyle/>
          <a:p>
            <a:r>
              <a:rPr lang="bs-Latn-BA" dirty="0"/>
              <a:t>Modeliranje</a:t>
            </a:r>
          </a:p>
        </p:txBody>
      </p:sp>
      <p:sp>
        <p:nvSpPr>
          <p:cNvPr id="3" name="Content Placeholder 2">
            <a:extLst>
              <a:ext uri="{FF2B5EF4-FFF2-40B4-BE49-F238E27FC236}">
                <a16:creationId xmlns:a16="http://schemas.microsoft.com/office/drawing/2014/main" id="{56D50BC4-049A-468D-A2AD-69E20D040044}"/>
              </a:ext>
            </a:extLst>
          </p:cNvPr>
          <p:cNvSpPr>
            <a:spLocks noGrp="1"/>
          </p:cNvSpPr>
          <p:nvPr>
            <p:ph sz="half" idx="1"/>
          </p:nvPr>
        </p:nvSpPr>
        <p:spPr/>
        <p:txBody>
          <a:bodyPr>
            <a:normAutofit fontScale="55000" lnSpcReduction="20000"/>
          </a:bodyPr>
          <a:lstStyle/>
          <a:p>
            <a:r>
              <a:rPr lang="bs-Latn-BA" dirty="0"/>
              <a:t>Nakon što su izračunate bioinformatičke značajke, podaci su podijeljeni na trening i testni skup. Za treniranje modela korišteno je 80 % podataka, dok je preostalih 20 % korišteno za testiranje uspješnih modela na koje podatke prethodno nije vidio. U projektu sam koristila dva modela strojnog učenja: Random Forest i Support Vector Machine. Random Forest temelji se na većem broju stabala odlučivanja koja zajednički donose konačnu odluku, dok SVM pronalazi optimalnu granicu koja Prije treniranja SVM modela provela sam standardizaciju podataka pomoću metode StandardScaler, jer SVM postiže bolje rezultate kada su sve značajke na istoj skali.</a:t>
            </a:r>
          </a:p>
        </p:txBody>
      </p:sp>
      <p:sp>
        <p:nvSpPr>
          <p:cNvPr id="4" name="Content Placeholder 3">
            <a:extLst>
              <a:ext uri="{FF2B5EF4-FFF2-40B4-BE49-F238E27FC236}">
                <a16:creationId xmlns:a16="http://schemas.microsoft.com/office/drawing/2014/main" id="{6A1F668E-F266-4F60-8936-4495B97AC9C2}"/>
              </a:ext>
            </a:extLst>
          </p:cNvPr>
          <p:cNvSpPr>
            <a:spLocks noGrp="1"/>
          </p:cNvSpPr>
          <p:nvPr>
            <p:ph sz="half" idx="2"/>
          </p:nvPr>
        </p:nvSpPr>
        <p:spPr/>
        <p:txBody>
          <a:bodyPr>
            <a:normAutofit fontScale="55000" lnSpcReduction="20000"/>
          </a:bodyPr>
          <a:lstStyle/>
          <a:p>
            <a:r>
              <a:rPr lang="bs-Latn-BA" dirty="0"/>
              <a:t>Podaci</a:t>
            </a:r>
          </a:p>
          <a:p>
            <a:r>
              <a:rPr lang="bs-Latn-BA" dirty="0"/>
              <a:t>    │</a:t>
            </a:r>
          </a:p>
          <a:p>
            <a:r>
              <a:rPr lang="bs-Latn-BA" dirty="0"/>
              <a:t>    ▼</a:t>
            </a:r>
          </a:p>
          <a:p>
            <a:r>
              <a:rPr lang="bs-Latn-BA" dirty="0"/>
              <a:t>Ekstrakcija značajki</a:t>
            </a:r>
          </a:p>
          <a:p>
            <a:r>
              <a:rPr lang="bs-Latn-BA" dirty="0"/>
              <a:t>    │</a:t>
            </a:r>
          </a:p>
          <a:p>
            <a:r>
              <a:rPr lang="bs-Latn-BA" dirty="0"/>
              <a:t>    ▼</a:t>
            </a:r>
          </a:p>
          <a:p>
            <a:r>
              <a:rPr lang="bs-Latn-BA" dirty="0"/>
              <a:t>Podjela 80 % / 20 %</a:t>
            </a:r>
          </a:p>
          <a:p>
            <a:r>
              <a:rPr lang="bs-Latn-BA" dirty="0"/>
              <a:t>    │</a:t>
            </a:r>
          </a:p>
          <a:p>
            <a:r>
              <a:rPr lang="bs-Latn-BA" dirty="0"/>
              <a:t> ┌───────┴────────┐</a:t>
            </a:r>
          </a:p>
          <a:p>
            <a:r>
              <a:rPr lang="bs-Latn-BA" dirty="0"/>
              <a:t> ▼                ▼</a:t>
            </a:r>
          </a:p>
          <a:p>
            <a:r>
              <a:rPr lang="bs-Latn-BA" dirty="0"/>
              <a:t>Random Forest    SVM</a:t>
            </a:r>
          </a:p>
          <a:p>
            <a:r>
              <a:rPr lang="bs-Latn-BA" dirty="0"/>
              <a:t>      │            │</a:t>
            </a:r>
          </a:p>
          <a:p>
            <a:r>
              <a:rPr lang="bs-Latn-BA" dirty="0"/>
              <a:t>      └──────┬─────┘</a:t>
            </a:r>
          </a:p>
          <a:p>
            <a:r>
              <a:rPr lang="bs-Latn-BA" dirty="0"/>
              <a:t>             ▼</a:t>
            </a:r>
          </a:p>
          <a:p>
            <a:r>
              <a:rPr lang="bs-Latn-BA" dirty="0"/>
              <a:t>      Usporedba rezultata</a:t>
            </a:r>
          </a:p>
        </p:txBody>
      </p:sp>
    </p:spTree>
    <p:extLst>
      <p:ext uri="{BB962C8B-B14F-4D97-AF65-F5344CB8AC3E}">
        <p14:creationId xmlns:p14="http://schemas.microsoft.com/office/powerpoint/2010/main" val="13500192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5796B-B721-429F-8507-69E74D022408}"/>
              </a:ext>
            </a:extLst>
          </p:cNvPr>
          <p:cNvSpPr>
            <a:spLocks noGrp="1"/>
          </p:cNvSpPr>
          <p:nvPr>
            <p:ph type="title"/>
          </p:nvPr>
        </p:nvSpPr>
        <p:spPr/>
        <p:txBody>
          <a:bodyPr/>
          <a:lstStyle/>
          <a:p>
            <a:r>
              <a:rPr lang="bs-Latn-BA" dirty="0"/>
              <a:t>Rezultati</a:t>
            </a:r>
          </a:p>
        </p:txBody>
      </p:sp>
      <p:graphicFrame>
        <p:nvGraphicFramePr>
          <p:cNvPr id="5" name="Content Placeholder 4">
            <a:extLst>
              <a:ext uri="{FF2B5EF4-FFF2-40B4-BE49-F238E27FC236}">
                <a16:creationId xmlns:a16="http://schemas.microsoft.com/office/drawing/2014/main" id="{4A104DE9-BCD7-4EDE-A172-50D749EE804B}"/>
              </a:ext>
            </a:extLst>
          </p:cNvPr>
          <p:cNvGraphicFramePr>
            <a:graphicFrameLocks noGrp="1"/>
          </p:cNvGraphicFramePr>
          <p:nvPr>
            <p:ph sz="half" idx="1"/>
            <p:extLst>
              <p:ext uri="{D42A27DB-BD31-4B8C-83A1-F6EECF244321}">
                <p14:modId xmlns:p14="http://schemas.microsoft.com/office/powerpoint/2010/main" val="4094023195"/>
              </p:ext>
            </p:extLst>
          </p:nvPr>
        </p:nvGraphicFramePr>
        <p:xfrm>
          <a:off x="838200" y="1825625"/>
          <a:ext cx="5181600" cy="1781094"/>
        </p:xfrm>
        <a:graphic>
          <a:graphicData uri="http://schemas.openxmlformats.org/drawingml/2006/table">
            <a:tbl>
              <a:tblPr/>
              <a:tblGrid>
                <a:gridCol w="1036320">
                  <a:extLst>
                    <a:ext uri="{9D8B030D-6E8A-4147-A177-3AD203B41FA5}">
                      <a16:colId xmlns:a16="http://schemas.microsoft.com/office/drawing/2014/main" val="2271123953"/>
                    </a:ext>
                  </a:extLst>
                </a:gridCol>
                <a:gridCol w="1036320">
                  <a:extLst>
                    <a:ext uri="{9D8B030D-6E8A-4147-A177-3AD203B41FA5}">
                      <a16:colId xmlns:a16="http://schemas.microsoft.com/office/drawing/2014/main" val="1277184539"/>
                    </a:ext>
                  </a:extLst>
                </a:gridCol>
                <a:gridCol w="1036320">
                  <a:extLst>
                    <a:ext uri="{9D8B030D-6E8A-4147-A177-3AD203B41FA5}">
                      <a16:colId xmlns:a16="http://schemas.microsoft.com/office/drawing/2014/main" val="1962940449"/>
                    </a:ext>
                  </a:extLst>
                </a:gridCol>
                <a:gridCol w="1957126">
                  <a:extLst>
                    <a:ext uri="{9D8B030D-6E8A-4147-A177-3AD203B41FA5}">
                      <a16:colId xmlns:a16="http://schemas.microsoft.com/office/drawing/2014/main" val="2903320363"/>
                    </a:ext>
                  </a:extLst>
                </a:gridCol>
                <a:gridCol w="115514">
                  <a:extLst>
                    <a:ext uri="{9D8B030D-6E8A-4147-A177-3AD203B41FA5}">
                      <a16:colId xmlns:a16="http://schemas.microsoft.com/office/drawing/2014/main" val="656330265"/>
                    </a:ext>
                  </a:extLst>
                </a:gridCol>
              </a:tblGrid>
              <a:tr h="0">
                <a:tc>
                  <a:txBody>
                    <a:bodyPr/>
                    <a:lstStyle/>
                    <a:p>
                      <a:r>
                        <a:rPr lang="bs-Latn-BA" sz="900"/>
                        <a:t>Model</a:t>
                      </a:r>
                    </a:p>
                  </a:txBody>
                  <a:tcPr marL="45057" marR="45057" marT="22529" marB="22529" anchor="ctr">
                    <a:lnL>
                      <a:noFill/>
                    </a:lnL>
                    <a:lnR>
                      <a:noFill/>
                    </a:lnR>
                    <a:lnT>
                      <a:noFill/>
                    </a:lnT>
                    <a:lnB>
                      <a:noFill/>
                    </a:lnB>
                  </a:tcPr>
                </a:tc>
                <a:tc>
                  <a:txBody>
                    <a:bodyPr/>
                    <a:lstStyle/>
                    <a:p>
                      <a:pPr algn="r"/>
                      <a:r>
                        <a:rPr lang="bs-Latn-BA" sz="900"/>
                        <a:t>Accuracy</a:t>
                      </a:r>
                    </a:p>
                  </a:txBody>
                  <a:tcPr marL="45057" marR="45057" marT="22529" marB="22529" anchor="ctr">
                    <a:lnL>
                      <a:noFill/>
                    </a:lnL>
                    <a:lnR>
                      <a:noFill/>
                    </a:lnR>
                    <a:lnT>
                      <a:noFill/>
                    </a:lnT>
                    <a:lnB>
                      <a:noFill/>
                    </a:lnB>
                  </a:tcPr>
                </a:tc>
                <a:tc>
                  <a:txBody>
                    <a:bodyPr/>
                    <a:lstStyle/>
                    <a:p>
                      <a:pPr algn="r"/>
                      <a:r>
                        <a:rPr lang="bs-Latn-BA" sz="900"/>
                        <a:t>Precision</a:t>
                      </a:r>
                    </a:p>
                  </a:txBody>
                  <a:tcPr marL="45057" marR="45057" marT="22529" marB="22529" anchor="ctr">
                    <a:lnL>
                      <a:noFill/>
                    </a:lnL>
                    <a:lnR>
                      <a:noFill/>
                    </a:lnR>
                    <a:lnT>
                      <a:noFill/>
                    </a:lnT>
                    <a:lnB>
                      <a:noFill/>
                    </a:lnB>
                  </a:tcPr>
                </a:tc>
                <a:tc>
                  <a:txBody>
                    <a:bodyPr/>
                    <a:lstStyle/>
                    <a:p>
                      <a:pPr algn="r"/>
                      <a:r>
                        <a:rPr lang="bs-Latn-BA" sz="900"/>
                        <a:t>Recall</a:t>
                      </a:r>
                    </a:p>
                  </a:txBody>
                  <a:tcPr marL="45057" marR="45057" marT="22529" marB="22529" anchor="ctr">
                    <a:lnL>
                      <a:noFill/>
                    </a:lnL>
                    <a:lnR>
                      <a:noFill/>
                    </a:lnR>
                    <a:lnT>
                      <a:noFill/>
                    </a:lnT>
                    <a:lnB>
                      <a:noFill/>
                    </a:lnB>
                  </a:tcPr>
                </a:tc>
                <a:tc>
                  <a:txBody>
                    <a:bodyPr/>
                    <a:lstStyle/>
                    <a:p>
                      <a:pPr algn="r"/>
                      <a:r>
                        <a:rPr lang="bs-Latn-BA" sz="900"/>
                        <a:t>F1</a:t>
                      </a:r>
                    </a:p>
                  </a:txBody>
                  <a:tcPr marL="45057" marR="45057" marT="22529" marB="22529" anchor="ctr">
                    <a:lnL>
                      <a:noFill/>
                    </a:lnL>
                    <a:lnR>
                      <a:noFill/>
                    </a:lnR>
                    <a:lnT>
                      <a:noFill/>
                    </a:lnT>
                    <a:lnB>
                      <a:noFill/>
                    </a:lnB>
                  </a:tcPr>
                </a:tc>
                <a:extLst>
                  <a:ext uri="{0D108BD9-81ED-4DB2-BD59-A6C34878D82A}">
                    <a16:rowId xmlns:a16="http://schemas.microsoft.com/office/drawing/2014/main" val="2611310842"/>
                  </a:ext>
                </a:extLst>
              </a:tr>
              <a:tr h="180230">
                <a:tc>
                  <a:txBody>
                    <a:bodyPr/>
                    <a:lstStyle/>
                    <a:p>
                      <a:r>
                        <a:rPr lang="bs-Latn-BA" sz="900"/>
                        <a:t>RF</a:t>
                      </a:r>
                    </a:p>
                  </a:txBody>
                  <a:tcPr marL="45057" marR="45057" marT="22529" marB="22529" anchor="ctr">
                    <a:lnL>
                      <a:noFill/>
                    </a:lnL>
                    <a:lnR>
                      <a:noFill/>
                    </a:lnR>
                    <a:lnT>
                      <a:noFill/>
                    </a:lnT>
                    <a:lnB>
                      <a:noFill/>
                    </a:lnB>
                  </a:tcPr>
                </a:tc>
                <a:tc>
                  <a:txBody>
                    <a:bodyPr/>
                    <a:lstStyle/>
                    <a:p>
                      <a:pPr algn="r"/>
                      <a:r>
                        <a:rPr lang="bs-Latn-BA" sz="900"/>
                        <a:t>93.12</a:t>
                      </a:r>
                    </a:p>
                  </a:txBody>
                  <a:tcPr marL="45057" marR="45057" marT="22529" marB="22529" anchor="ctr">
                    <a:lnL>
                      <a:noFill/>
                    </a:lnL>
                    <a:lnR>
                      <a:noFill/>
                    </a:lnR>
                    <a:lnT>
                      <a:noFill/>
                    </a:lnT>
                    <a:lnB>
                      <a:noFill/>
                    </a:lnB>
                  </a:tcPr>
                </a:tc>
                <a:tc>
                  <a:txBody>
                    <a:bodyPr/>
                    <a:lstStyle/>
                    <a:p>
                      <a:pPr algn="r"/>
                      <a:r>
                        <a:rPr lang="bs-Latn-BA" sz="900"/>
                        <a:t>92.35</a:t>
                      </a:r>
                    </a:p>
                  </a:txBody>
                  <a:tcPr marL="45057" marR="45057" marT="22529" marB="22529" anchor="ctr">
                    <a:lnL>
                      <a:noFill/>
                    </a:lnL>
                    <a:lnR>
                      <a:noFill/>
                    </a:lnR>
                    <a:lnT>
                      <a:noFill/>
                    </a:lnT>
                    <a:lnB>
                      <a:noFill/>
                    </a:lnB>
                  </a:tcPr>
                </a:tc>
                <a:tc>
                  <a:txBody>
                    <a:bodyPr/>
                    <a:lstStyle/>
                    <a:p>
                      <a:pPr algn="r"/>
                      <a:r>
                        <a:rPr lang="bs-Latn-BA" sz="900"/>
                        <a:t>94.01</a:t>
                      </a:r>
                    </a:p>
                  </a:txBody>
                  <a:tcPr marL="45057" marR="45057" marT="22529" marB="22529" anchor="ctr">
                    <a:lnL>
                      <a:noFill/>
                    </a:lnL>
                    <a:lnR>
                      <a:noFill/>
                    </a:lnR>
                    <a:lnT>
                      <a:noFill/>
                    </a:lnT>
                    <a:lnB>
                      <a:noFill/>
                    </a:lnB>
                  </a:tcPr>
                </a:tc>
                <a:tc>
                  <a:txBody>
                    <a:bodyPr/>
                    <a:lstStyle/>
                    <a:p>
                      <a:pPr algn="r"/>
                      <a:r>
                        <a:rPr lang="bs-Latn-BA" sz="900"/>
                        <a:t>93.18</a:t>
                      </a:r>
                    </a:p>
                  </a:txBody>
                  <a:tcPr marL="45057" marR="45057" marT="22529" marB="22529" anchor="ctr">
                    <a:lnL>
                      <a:noFill/>
                    </a:lnL>
                    <a:lnR>
                      <a:noFill/>
                    </a:lnR>
                    <a:lnT>
                      <a:noFill/>
                    </a:lnT>
                    <a:lnB>
                      <a:noFill/>
                    </a:lnB>
                  </a:tcPr>
                </a:tc>
                <a:extLst>
                  <a:ext uri="{0D108BD9-81ED-4DB2-BD59-A6C34878D82A}">
                    <a16:rowId xmlns:a16="http://schemas.microsoft.com/office/drawing/2014/main" val="793206745"/>
                  </a:ext>
                </a:extLst>
              </a:tr>
              <a:tr h="180230">
                <a:tc>
                  <a:txBody>
                    <a:bodyPr/>
                    <a:lstStyle/>
                    <a:p>
                      <a:r>
                        <a:rPr lang="bs-Latn-BA" sz="900"/>
                        <a:t>SVM</a:t>
                      </a:r>
                    </a:p>
                  </a:txBody>
                  <a:tcPr marL="45057" marR="45057" marT="22529" marB="22529" anchor="ctr">
                    <a:lnL>
                      <a:noFill/>
                    </a:lnL>
                    <a:lnR>
                      <a:noFill/>
                    </a:lnR>
                    <a:lnT>
                      <a:noFill/>
                    </a:lnT>
                    <a:lnB>
                      <a:noFill/>
                    </a:lnB>
                  </a:tcPr>
                </a:tc>
                <a:tc>
                  <a:txBody>
                    <a:bodyPr/>
                    <a:lstStyle/>
                    <a:p>
                      <a:pPr algn="r"/>
                      <a:r>
                        <a:rPr lang="bs-Latn-BA" sz="900"/>
                        <a:t>92.97</a:t>
                      </a:r>
                    </a:p>
                  </a:txBody>
                  <a:tcPr marL="45057" marR="45057" marT="22529" marB="22529" anchor="ctr">
                    <a:lnL>
                      <a:noFill/>
                    </a:lnL>
                    <a:lnR>
                      <a:noFill/>
                    </a:lnR>
                    <a:lnT>
                      <a:noFill/>
                    </a:lnT>
                    <a:lnB>
                      <a:noFill/>
                    </a:lnB>
                  </a:tcPr>
                </a:tc>
                <a:tc>
                  <a:txBody>
                    <a:bodyPr/>
                    <a:lstStyle/>
                    <a:p>
                      <a:pPr algn="r"/>
                      <a:r>
                        <a:rPr lang="bs-Latn-BA" sz="900"/>
                        <a:t>93.09</a:t>
                      </a:r>
                    </a:p>
                  </a:txBody>
                  <a:tcPr marL="45057" marR="45057" marT="22529" marB="22529" anchor="ctr">
                    <a:lnL>
                      <a:noFill/>
                    </a:lnL>
                    <a:lnR>
                      <a:noFill/>
                    </a:lnR>
                    <a:lnT>
                      <a:noFill/>
                    </a:lnT>
                    <a:lnB>
                      <a:noFill/>
                    </a:lnB>
                  </a:tcPr>
                </a:tc>
                <a:tc>
                  <a:txBody>
                    <a:bodyPr/>
                    <a:lstStyle/>
                    <a:p>
                      <a:pPr algn="r"/>
                      <a:r>
                        <a:rPr lang="bs-Latn-BA" sz="900" dirty="0"/>
                        <a:t>92.81</a:t>
                      </a:r>
                    </a:p>
                  </a:txBody>
                  <a:tcPr marL="45057" marR="45057" marT="22529" marB="22529" anchor="ctr">
                    <a:lnL>
                      <a:noFill/>
                    </a:lnL>
                    <a:lnR>
                      <a:noFill/>
                    </a:lnR>
                    <a:lnT>
                      <a:noFill/>
                    </a:lnT>
                    <a:lnB>
                      <a:noFill/>
                    </a:lnB>
                  </a:tcPr>
                </a:tc>
                <a:tc>
                  <a:txBody>
                    <a:bodyPr/>
                    <a:lstStyle/>
                    <a:p>
                      <a:pPr algn="r"/>
                      <a:r>
                        <a:rPr lang="bs-Latn-BA" sz="900" dirty="0"/>
                        <a:t>92.95</a:t>
                      </a:r>
                    </a:p>
                  </a:txBody>
                  <a:tcPr marL="45057" marR="45057" marT="22529" marB="22529" anchor="ctr">
                    <a:lnL>
                      <a:noFill/>
                    </a:lnL>
                    <a:lnR>
                      <a:noFill/>
                    </a:lnR>
                    <a:lnT>
                      <a:noFill/>
                    </a:lnT>
                    <a:lnB>
                      <a:noFill/>
                    </a:lnB>
                  </a:tcPr>
                </a:tc>
                <a:extLst>
                  <a:ext uri="{0D108BD9-81ED-4DB2-BD59-A6C34878D82A}">
                    <a16:rowId xmlns:a16="http://schemas.microsoft.com/office/drawing/2014/main" val="2560835363"/>
                  </a:ext>
                </a:extLst>
              </a:tr>
            </a:tbl>
          </a:graphicData>
        </a:graphic>
      </p:graphicFrame>
      <p:sp>
        <p:nvSpPr>
          <p:cNvPr id="4" name="Content Placeholder 3">
            <a:extLst>
              <a:ext uri="{FF2B5EF4-FFF2-40B4-BE49-F238E27FC236}">
                <a16:creationId xmlns:a16="http://schemas.microsoft.com/office/drawing/2014/main" id="{360F42CA-42C7-4FCE-A5F9-E550A373753E}"/>
              </a:ext>
            </a:extLst>
          </p:cNvPr>
          <p:cNvSpPr>
            <a:spLocks noGrp="1"/>
          </p:cNvSpPr>
          <p:nvPr>
            <p:ph sz="half" idx="2"/>
          </p:nvPr>
        </p:nvSpPr>
        <p:spPr/>
        <p:txBody>
          <a:bodyPr>
            <a:normAutofit fontScale="77500" lnSpcReduction="20000"/>
          </a:bodyPr>
          <a:lstStyle/>
          <a:p>
            <a:r>
              <a:rPr lang="bs-Latn-BA" dirty="0"/>
              <a:t>✔ Random Forest ostvario najbolje rezultate.</a:t>
            </a:r>
          </a:p>
          <a:p>
            <a:r>
              <a:rPr lang="bs-Latn-BA" dirty="0"/>
              <a:t>Nakon treniranja oba modela uspoređivala je njihove rezultate koristeći četiri evaluacijske metrike: točnost, preciznost, prisjećanje i F1-score. Kao što se vidi u tablici, oba modela ostvarila su vrlo visoku uspješnost klasifikacije, s točnošću većom od 92 %. Random Forest ostvario je nešto veću ukupnu uspješnost, posebno prema vrijednostima točnosti, prisjećanja i F1-score, dok je SVM imao neznatno veću preciznost. Budući da je Random Forest postigao najbolje ukupne rezultate, odabran je kao uspješniji model u ovom projektu</a:t>
            </a:r>
          </a:p>
        </p:txBody>
      </p:sp>
    </p:spTree>
    <p:extLst>
      <p:ext uri="{BB962C8B-B14F-4D97-AF65-F5344CB8AC3E}">
        <p14:creationId xmlns:p14="http://schemas.microsoft.com/office/powerpoint/2010/main" val="3846403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BAD5D-40BD-43FE-B381-47681F5CD689}"/>
              </a:ext>
            </a:extLst>
          </p:cNvPr>
          <p:cNvSpPr>
            <a:spLocks noGrp="1"/>
          </p:cNvSpPr>
          <p:nvPr>
            <p:ph type="title"/>
          </p:nvPr>
        </p:nvSpPr>
        <p:spPr/>
        <p:txBody>
          <a:bodyPr/>
          <a:lstStyle/>
          <a:p>
            <a:r>
              <a:rPr lang="bs-Latn-BA" dirty="0"/>
              <a:t>Matrica zbunjenosti</a:t>
            </a:r>
          </a:p>
        </p:txBody>
      </p:sp>
      <p:sp>
        <p:nvSpPr>
          <p:cNvPr id="9" name="Text Placeholder 8">
            <a:extLst>
              <a:ext uri="{FF2B5EF4-FFF2-40B4-BE49-F238E27FC236}">
                <a16:creationId xmlns:a16="http://schemas.microsoft.com/office/drawing/2014/main" id="{1970FD90-C0AF-475E-BA11-137C09A7477A}"/>
              </a:ext>
            </a:extLst>
          </p:cNvPr>
          <p:cNvSpPr>
            <a:spLocks noGrp="1"/>
          </p:cNvSpPr>
          <p:nvPr>
            <p:ph type="body" idx="1"/>
          </p:nvPr>
        </p:nvSpPr>
        <p:spPr/>
        <p:txBody>
          <a:bodyPr/>
          <a:lstStyle/>
          <a:p>
            <a:r>
              <a:rPr lang="bs-Latn-BA" dirty="0"/>
              <a:t>Random Forest</a:t>
            </a:r>
          </a:p>
        </p:txBody>
      </p:sp>
      <p:sp>
        <p:nvSpPr>
          <p:cNvPr id="5" name="Rectangle 1">
            <a:extLst>
              <a:ext uri="{FF2B5EF4-FFF2-40B4-BE49-F238E27FC236}">
                <a16:creationId xmlns:a16="http://schemas.microsoft.com/office/drawing/2014/main" id="{CEAAE75E-3076-4F86-8019-2A26067FC629}"/>
              </a:ext>
            </a:extLst>
          </p:cNvPr>
          <p:cNvSpPr>
            <a:spLocks noGrp="1" noChangeArrowheads="1"/>
          </p:cNvSpPr>
          <p:nvPr>
            <p:ph sz="half" idx="2"/>
          </p:nvPr>
        </p:nvSpPr>
        <p:spPr bwMode="auto">
          <a:xfrm>
            <a:off x="2411914" y="6308209"/>
            <a:ext cx="926673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sr-Latn-RS" altLang="sr-Latn-RS" sz="1800" b="0" i="0" u="none" strike="noStrike" cap="none" normalizeH="0" baseline="0" dirty="0">
                <a:ln>
                  <a:noFill/>
                </a:ln>
                <a:solidFill>
                  <a:schemeClr val="tx1"/>
                </a:solidFill>
                <a:effectLst/>
                <a:latin typeface="Arial" panose="020B0604020202020204" pitchFamily="34" charset="0"/>
              </a:rPr>
              <a:t>Oba modela ostvarila su vrlo mali broj pogrešnih klasifikacija.</a:t>
            </a:r>
          </a:p>
        </p:txBody>
      </p:sp>
      <p:sp>
        <p:nvSpPr>
          <p:cNvPr id="10" name="Text Placeholder 9">
            <a:extLst>
              <a:ext uri="{FF2B5EF4-FFF2-40B4-BE49-F238E27FC236}">
                <a16:creationId xmlns:a16="http://schemas.microsoft.com/office/drawing/2014/main" id="{B268291A-C787-4D77-9218-5D7B19556852}"/>
              </a:ext>
            </a:extLst>
          </p:cNvPr>
          <p:cNvSpPr>
            <a:spLocks noGrp="1"/>
          </p:cNvSpPr>
          <p:nvPr>
            <p:ph type="body" sz="quarter" idx="3"/>
          </p:nvPr>
        </p:nvSpPr>
        <p:spPr/>
        <p:txBody>
          <a:bodyPr/>
          <a:lstStyle/>
          <a:p>
            <a:r>
              <a:rPr lang="bs-Latn-BA" dirty="0"/>
              <a:t>SVM</a:t>
            </a:r>
          </a:p>
        </p:txBody>
      </p:sp>
      <p:sp>
        <p:nvSpPr>
          <p:cNvPr id="6" name="Rectangle 2">
            <a:extLst>
              <a:ext uri="{FF2B5EF4-FFF2-40B4-BE49-F238E27FC236}">
                <a16:creationId xmlns:a16="http://schemas.microsoft.com/office/drawing/2014/main" id="{FB93E8EA-1B90-432F-BCB9-D69AF55CF0AF}"/>
              </a:ext>
            </a:extLst>
          </p:cNvPr>
          <p:cNvSpPr>
            <a:spLocks noGrp="1" noChangeArrowheads="1"/>
          </p:cNvSpPr>
          <p:nvPr>
            <p:ph sz="quarter" idx="4"/>
          </p:nvPr>
        </p:nvSpPr>
        <p:spPr bwMode="auto">
          <a:xfrm>
            <a:off x="9258717" y="1027906"/>
            <a:ext cx="2933283" cy="535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bs-Latn-BA" sz="1800" b="1" dirty="0">
                <a:effectLst/>
                <a:latin typeface="Times New Roman" panose="02020603050405020304" pitchFamily="18" charset="0"/>
                <a:ea typeface="Times New Roman" panose="02020603050405020304" pitchFamily="18" charset="0"/>
              </a:rPr>
              <a:t>Na ovom slajdu prikazane su matrice zabune za oba modela. Matrica zabune prikazuje koliko je peptida model ispravno, a koliko pogrešno klasificirao. Kao što se može vidjeti, najveći broj peptida nalazi se na glavnoj dijagonali, što znači da su ispravno klasificirani. Broj pogrešno klasificiranih peptida vrlo je mali kod oba modela, što potvrđuje njihovu visoku uspješnost. Usporedbom matrica može se zaključiti da je Random Forest ostvario nešto bolje ukupne rezultate od SVM modela</a:t>
            </a:r>
            <a:endParaRPr kumimoji="0" lang="sr-Latn-RS" altLang="sr-Latn-RS" sz="1800" b="0" i="0" u="none" strike="noStrike" cap="none" normalizeH="0" baseline="0" dirty="0">
              <a:ln>
                <a:noFill/>
              </a:ln>
              <a:solidFill>
                <a:schemeClr val="tx1"/>
              </a:solidFill>
              <a:effectLst/>
              <a:latin typeface="Arial" panose="020B0604020202020204" pitchFamily="34" charset="0"/>
            </a:endParaRPr>
          </a:p>
        </p:txBody>
      </p:sp>
      <p:pic>
        <p:nvPicPr>
          <p:cNvPr id="7" name="Picture 6">
            <a:extLst>
              <a:ext uri="{FF2B5EF4-FFF2-40B4-BE49-F238E27FC236}">
                <a16:creationId xmlns:a16="http://schemas.microsoft.com/office/drawing/2014/main" id="{FFE322A7-2AFB-4A40-BFB6-9C7A930C40C9}"/>
              </a:ext>
            </a:extLst>
          </p:cNvPr>
          <p:cNvPicPr/>
          <p:nvPr/>
        </p:nvPicPr>
        <p:blipFill>
          <a:blip r:embed="rId2"/>
          <a:stretch>
            <a:fillRect/>
          </a:stretch>
        </p:blipFill>
        <p:spPr>
          <a:xfrm>
            <a:off x="164014" y="2505075"/>
            <a:ext cx="4495800" cy="3439795"/>
          </a:xfrm>
          <a:prstGeom prst="rect">
            <a:avLst/>
          </a:prstGeom>
        </p:spPr>
      </p:pic>
      <p:pic>
        <p:nvPicPr>
          <p:cNvPr id="8" name="Picture 7">
            <a:extLst>
              <a:ext uri="{FF2B5EF4-FFF2-40B4-BE49-F238E27FC236}">
                <a16:creationId xmlns:a16="http://schemas.microsoft.com/office/drawing/2014/main" id="{449F49A8-C0A9-462F-90A8-C2DAC656AA01}"/>
              </a:ext>
            </a:extLst>
          </p:cNvPr>
          <p:cNvPicPr/>
          <p:nvPr/>
        </p:nvPicPr>
        <p:blipFill>
          <a:blip r:embed="rId3"/>
          <a:stretch>
            <a:fillRect/>
          </a:stretch>
        </p:blipFill>
        <p:spPr>
          <a:xfrm>
            <a:off x="5020610" y="2720022"/>
            <a:ext cx="3877310" cy="3009900"/>
          </a:xfrm>
          <a:prstGeom prst="rect">
            <a:avLst/>
          </a:prstGeom>
        </p:spPr>
      </p:pic>
    </p:spTree>
    <p:extLst>
      <p:ext uri="{BB962C8B-B14F-4D97-AF65-F5344CB8AC3E}">
        <p14:creationId xmlns:p14="http://schemas.microsoft.com/office/powerpoint/2010/main" val="120091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0FB6E-6F6B-4193-81BD-4CE776504C24}"/>
              </a:ext>
            </a:extLst>
          </p:cNvPr>
          <p:cNvSpPr>
            <a:spLocks noGrp="1"/>
          </p:cNvSpPr>
          <p:nvPr>
            <p:ph type="title"/>
          </p:nvPr>
        </p:nvSpPr>
        <p:spPr/>
        <p:txBody>
          <a:bodyPr/>
          <a:lstStyle/>
          <a:p>
            <a:r>
              <a:rPr lang="bs-Latn-BA" dirty="0"/>
              <a:t>Najvažnije značajke za klasifikaciju</a:t>
            </a:r>
          </a:p>
        </p:txBody>
      </p:sp>
      <p:sp>
        <p:nvSpPr>
          <p:cNvPr id="4" name="Content Placeholder 3">
            <a:extLst>
              <a:ext uri="{FF2B5EF4-FFF2-40B4-BE49-F238E27FC236}">
                <a16:creationId xmlns:a16="http://schemas.microsoft.com/office/drawing/2014/main" id="{8EC09513-1B5B-4652-ACC9-2593CCFF0346}"/>
              </a:ext>
            </a:extLst>
          </p:cNvPr>
          <p:cNvSpPr>
            <a:spLocks noGrp="1"/>
          </p:cNvSpPr>
          <p:nvPr>
            <p:ph sz="half" idx="2"/>
          </p:nvPr>
        </p:nvSpPr>
        <p:spPr/>
        <p:txBody>
          <a:bodyPr/>
          <a:lstStyle/>
          <a:p>
            <a:pPr marL="0" indent="0">
              <a:buNone/>
            </a:pPr>
            <a:r>
              <a:rPr lang="bs-Latn-BA" sz="1800" b="1" dirty="0">
                <a:effectLst/>
                <a:latin typeface="Times New Roman" panose="02020603050405020304" pitchFamily="18" charset="0"/>
                <a:ea typeface="Times New Roman" panose="02020603050405020304" pitchFamily="18" charset="0"/>
              </a:rPr>
              <a:t>Na ovom grafu prikazana je važnost bioinformatičkih značajki prema Random Forest modelu. Može se vidjeti da je najveći doprinos klasifikaciji imao neto naboj peptida. Osim njega, važnima su se pokazale i pojedine značajke aminokiselinskog sastava, kao što su AAC_E i AAC_K, te hidrofobnost. Ovakvi rezultati očekivani su jer su upravo ta svojstva povezana s načinom na koji antimikrobni peptidi djeluju na membrane mikroorganizama. Zato možemo zaključiti da su odabrane značajke bile prikladne za uspješnu klasifikaciju.</a:t>
            </a:r>
            <a:endParaRPr lang="bs-Latn-BA" sz="1800" dirty="0">
              <a:effectLst/>
              <a:latin typeface="Times New Roman" panose="02020603050405020304" pitchFamily="18" charset="0"/>
              <a:ea typeface="Times New Roman" panose="02020603050405020304" pitchFamily="18" charset="0"/>
            </a:endParaRPr>
          </a:p>
        </p:txBody>
      </p:sp>
      <p:pic>
        <p:nvPicPr>
          <p:cNvPr id="5" name="Picture 4">
            <a:extLst>
              <a:ext uri="{FF2B5EF4-FFF2-40B4-BE49-F238E27FC236}">
                <a16:creationId xmlns:a16="http://schemas.microsoft.com/office/drawing/2014/main" id="{60D9CA93-3BA7-4D07-B132-F2A0581EEACC}"/>
              </a:ext>
            </a:extLst>
          </p:cNvPr>
          <p:cNvPicPr/>
          <p:nvPr/>
        </p:nvPicPr>
        <p:blipFill>
          <a:blip r:embed="rId2"/>
          <a:stretch>
            <a:fillRect/>
          </a:stretch>
        </p:blipFill>
        <p:spPr>
          <a:xfrm>
            <a:off x="289561" y="2187734"/>
            <a:ext cx="5730240" cy="3627120"/>
          </a:xfrm>
          <a:prstGeom prst="rect">
            <a:avLst/>
          </a:prstGeom>
        </p:spPr>
      </p:pic>
    </p:spTree>
    <p:extLst>
      <p:ext uri="{BB962C8B-B14F-4D97-AF65-F5344CB8AC3E}">
        <p14:creationId xmlns:p14="http://schemas.microsoft.com/office/powerpoint/2010/main" val="8279789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40CC0-509D-401D-8390-D9C19BC73821}"/>
              </a:ext>
            </a:extLst>
          </p:cNvPr>
          <p:cNvSpPr>
            <a:spLocks noGrp="1"/>
          </p:cNvSpPr>
          <p:nvPr>
            <p:ph type="title"/>
          </p:nvPr>
        </p:nvSpPr>
        <p:spPr/>
        <p:txBody>
          <a:bodyPr/>
          <a:lstStyle/>
          <a:p>
            <a:r>
              <a:rPr lang="bs-Latn-BA" dirty="0"/>
              <a:t>Zaključak</a:t>
            </a:r>
          </a:p>
        </p:txBody>
      </p:sp>
      <p:sp>
        <p:nvSpPr>
          <p:cNvPr id="12" name="Content Placeholder 11">
            <a:extLst>
              <a:ext uri="{FF2B5EF4-FFF2-40B4-BE49-F238E27FC236}">
                <a16:creationId xmlns:a16="http://schemas.microsoft.com/office/drawing/2014/main" id="{9352BE13-6B85-49AC-9FE3-0EFAF02B6A25}"/>
              </a:ext>
            </a:extLst>
          </p:cNvPr>
          <p:cNvSpPr>
            <a:spLocks noGrp="1"/>
          </p:cNvSpPr>
          <p:nvPr>
            <p:ph sz="half" idx="1"/>
          </p:nvPr>
        </p:nvSpPr>
        <p:spPr/>
        <p:txBody>
          <a:bodyPr/>
          <a:lstStyle/>
          <a:p>
            <a:r>
              <a:rPr lang="bs-Latn-BA" sz="1800" b="1" dirty="0">
                <a:effectLst/>
                <a:latin typeface="Calibri" panose="020F0502020204030204" pitchFamily="34" charset="0"/>
                <a:ea typeface="Calibri" panose="020F0502020204030204" pitchFamily="34" charset="0"/>
                <a:cs typeface="Times New Roman" panose="02020603050405020304" pitchFamily="18" charset="0"/>
              </a:rPr>
              <a:t>Za kraj mogu zaključiti da je cilj ovog projekta uspješno ostvaren. Razvila sam model strojnog učenja koji razlikuje antimikrobne od neantimikrobnih peptida na temelju bioinformatičkih značajki. Oba modela ostvarila su vrlo dobre rezultate, dok je Random Forest bio nešto uspješniji od SVM-a. Analiza važnosti značajki pokazala je da je neto naboj najvažnije svojstvo za klasifikaciju peptida. U budućnosti bi se projekt mogao proširiti korištenjem dodatnih bioinformatičkih značajki ili naprednijih modela strojnog učenja."</a:t>
            </a:r>
            <a:endParaRPr lang="bs-Latn-BA" dirty="0"/>
          </a:p>
        </p:txBody>
      </p:sp>
      <p:sp>
        <p:nvSpPr>
          <p:cNvPr id="4" name="Content Placeholder 3">
            <a:extLst>
              <a:ext uri="{FF2B5EF4-FFF2-40B4-BE49-F238E27FC236}">
                <a16:creationId xmlns:a16="http://schemas.microsoft.com/office/drawing/2014/main" id="{91457B41-5DFC-4D11-8F7C-B3DE3045429F}"/>
              </a:ext>
            </a:extLst>
          </p:cNvPr>
          <p:cNvSpPr>
            <a:spLocks noGrp="1"/>
          </p:cNvSpPr>
          <p:nvPr>
            <p:ph sz="half" idx="2"/>
          </p:nvPr>
        </p:nvSpPr>
        <p:spPr/>
        <p:txBody>
          <a:bodyPr/>
          <a:lstStyle/>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Razvijen model za klasifikaciju AMP i non-AMP peptida</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Random Forest ostvario najbolje rezultate</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Neto naboj bio najvažnija značajka</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Mogućnost proširenja dodatnim značajkama i modelima</a:t>
            </a:r>
          </a:p>
          <a:p>
            <a:endParaRPr lang="bs-Latn-BA" dirty="0"/>
          </a:p>
        </p:txBody>
      </p:sp>
    </p:spTree>
    <p:extLst>
      <p:ext uri="{BB962C8B-B14F-4D97-AF65-F5344CB8AC3E}">
        <p14:creationId xmlns:p14="http://schemas.microsoft.com/office/powerpoint/2010/main" val="3231986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7A828-8C0A-4E38-A89F-8D5C85955CBB}"/>
              </a:ext>
            </a:extLst>
          </p:cNvPr>
          <p:cNvSpPr>
            <a:spLocks noGrp="1"/>
          </p:cNvSpPr>
          <p:nvPr>
            <p:ph type="title"/>
          </p:nvPr>
        </p:nvSpPr>
        <p:spPr>
          <a:xfrm>
            <a:off x="1367589" y="2883736"/>
            <a:ext cx="10515600" cy="1325563"/>
          </a:xfrm>
        </p:spPr>
        <p:txBody>
          <a:bodyPr/>
          <a:lstStyle/>
          <a:p>
            <a:r>
              <a:rPr lang="bs-Latn-BA" dirty="0"/>
              <a:t>Hvala na pažnji!</a:t>
            </a:r>
          </a:p>
        </p:txBody>
      </p:sp>
    </p:spTree>
    <p:extLst>
      <p:ext uri="{BB962C8B-B14F-4D97-AF65-F5344CB8AC3E}">
        <p14:creationId xmlns:p14="http://schemas.microsoft.com/office/powerpoint/2010/main" val="136984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939</Words>
  <Application>Microsoft Office PowerPoint</Application>
  <PresentationFormat>Widescreen</PresentationFormat>
  <Paragraphs>79</Paragraphs>
  <Slides>11</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Symbol</vt:lpstr>
      <vt:lpstr>Times New Roman</vt:lpstr>
      <vt:lpstr>Office Theme</vt:lpstr>
      <vt:lpstr>Klasifikacija antimikrobnih peptida</vt:lpstr>
      <vt:lpstr>SADRŽAJ:</vt:lpstr>
      <vt:lpstr>MOTIVACIJA I CILJ</vt:lpstr>
      <vt:lpstr>Skup podataka</vt:lpstr>
      <vt:lpstr>Bioinformatičke značajke</vt:lpstr>
      <vt:lpstr>Modeliranje</vt:lpstr>
      <vt:lpstr>Rezultati</vt:lpstr>
      <vt:lpstr>Matrica zbunjenosti</vt:lpstr>
      <vt:lpstr>Najvažnije značajke za klasifikaciju</vt:lpstr>
      <vt:lpstr>Zaključak</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Klasifikacija antimikrobnih peptida</dc:title>
  <dc:creator>ADMIN</dc:creator>
  <cp:lastModifiedBy>ADMIN</cp:lastModifiedBy>
  <cp:revision>17</cp:revision>
  <dcterms:created xsi:type="dcterms:W3CDTF">2026-06-26T04:58:33Z</dcterms:created>
  <dcterms:modified xsi:type="dcterms:W3CDTF">2026-06-26T08:09:07Z</dcterms:modified>
</cp:coreProperties>
</file>